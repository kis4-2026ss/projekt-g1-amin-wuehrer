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5" r:id="rId3"/>
    <p:sldId id="259" r:id="rId4"/>
    <p:sldId id="260" r:id="rId5"/>
    <p:sldId id="261" r:id="rId6"/>
    <p:sldId id="262" r:id="rId7"/>
    <p:sldId id="263" r:id="rId8"/>
    <p:sldId id="264" r:id="rId9"/>
    <p:sldId id="266" r:id="rId10"/>
    <p:sldId id="267" r:id="rId11"/>
    <p:sldId id="268" r:id="rId12"/>
    <p:sldId id="269" r:id="rId13"/>
    <p:sldId id="272" r:id="rId14"/>
    <p:sldId id="271"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4B1D32-6620-4FD5-8C28-6C089C1145C2}" v="5" dt="2026-05-29T10:27:12.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4" autoAdjust="0"/>
    <p:restoredTop sz="90457" autoAdjust="0"/>
  </p:normalViewPr>
  <p:slideViewPr>
    <p:cSldViewPr snapToGrid="0" snapToObjects="1">
      <p:cViewPr varScale="1">
        <p:scale>
          <a:sx n="146" d="100"/>
          <a:sy n="146" d="100"/>
        </p:scale>
        <p:origin x="3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2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1 Minute. Einstieg: AiR steht für Artificial intelligence Runner. Die Grundidee ist ein Endless Runner, der nicht nur feste Levelstücke oder rein zufällige Hindernisse nutzt. Das Spiel soll während der Laufzeit neue Hindernisse erzeugen und vor dem Spawnen prüfen, ob sie spielbar sind. Die Präsentation konzentriert sich deshalb auf drei Fragen: Was erzeugt der Generator, wie wird daraus ein Level, und wie prüft der Validator während des Spiels, ob ein Hindernis fair ist.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Hier wird die Designentscheidung begründet. Ein simples Jump and Run wie Dino Run ist elegant, aber sehr reduziert. Genau diese Reduktion macht es schwer, eine KI Generierung überzeugend zu zeigen. Im Space Runner gibt es mehrere Dimensionen: Hindernisse können hoch oder tief entstehen, die Formen variieren, und die Lücke kann als Flugkorridor verstanden werden. Deshalb ist der Space Runner die bessere Bühne für prozedurale Generierung und Validierung.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1,5 Minuten. Diese Folie erklärt den sichtbaren Spielablauf. Die Spielenden wählen einen Schwierigkeitsgrad, danach kommt ein Countdown. Anschließend bewegt sich das Schiff automatisch nach rechts. Die Eingabe wirkt auf die vertikale Bewegung. Das ist wichtig, weil der Generator nicht direkt die Steuerung ändert. Er erzeugt nur Hindernisparameter, während GameState die Geschwindigkeit und den Schwierigkeitswert liefert.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Die drei Säulen stammen aus der Projektdokumentation: Entscheidungsebene, Validierungsebene und Realisierungsebene. Der Generator entscheidet nicht über einzelne Pixel, sondern über Designparameter. Der Validator prüft diese Parameter in einer separaten Physikszene. Erst danach macht die Realisierungsebene daraus ein echtes Hindernis mit Mesh und Collider. Diese Trennung ist die Stärke des Systems, weil man Generator, Test und Darstellung getrennt verbessern kann.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Unity Sentis, in neueren Unity Versionen auch als Inference Engine bezeichnet, erlaubt es, trainierte Modelle in Unity zu importieren und lokal auszuführen. Im Projekt ist die Idee, dass das Modell zwei Werte bekommt: aktuelle Geschwindigkeit und Schwierigkeitsmetrik. Heraus kommen vier Werte: Breite, Höhe, Abstand und Y Position. Diese vier Werte sind die Sprache, in der die KI Leveldesign betreibt. Wichtig: Sie erzeugt keine Textur und kein fertiges Objekt, sondern steuerbare Parameter.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1,5 Minuten. Diese Folie zeigt eine wichtige Sicherheitsidee. Ein neuronales Netz kann, besonders wenn es untrainiert oder schlecht trainiert ist, unsinnige Zahlen ausgeben. Deshalb werden die Ergebnisse begrenzt. Breite, Höhe, Abstand und Y Position bekommen harte Wertebereiche. Das macht die Daten stabiler, ersetzt aber nicht die Validierung. Ein Wert kann innerhalb des erlaubten Bereichs liegen und trotzdem in Kombination mit anderen Werten unfair sein.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Nachdem der Generator Zahlen geliefert hat, wird daraus noch kein sichtbares Hindernis. Der ProceduralPolygonGenerator nimmt Breite und Höhe, erzeugt eine zufällige Anzahl an Eckpunkten und variiert deren Radius. Dadurch entsteht ein unregelmäßiger Meteorit. Gleichzeitig wird der PolygonCollider gesetzt, damit Grafik und Physik zusammenpassen. Dieser Schritt verbindet KI Parameter mit sichtbarer Spielwelt.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Der Spawner entscheidet, welches Muster erzeugt wird. Er nutzt die Generatorwerte als Basis, baut daraus aber unterschiedliche Levelmomente. Ein Single Hindernis ist einfach. Ein Tunnel zwingt den Spieler in eine Lücke. Stacked und Cluster erzeugen stärkere Entscheidungsdichte. Das ist der Punkt, an dem aus einzelnen KI Zahlen ein Rhythmus entsteht.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Der Validator ist der Sicherheitsfilter. Die Idee ist, dass der Generator mutig sein darf, aber nichts direkt in die Spielwelt setzt. Zuerst wird in einer separaten Physikszene getestet. Dort existiert ein Shadow Agent. Wenn mindestens eine simulierte Flugbahn durchkommt, wird die Sequenz akzeptiert. Wenn alle Versuche scheitern, wird sie verworfen oder der Spawn Punkt verschoben.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2,5 Minuten. Hier sollte man ehrlich sein. Der Validator heißt MLAgentsValidationManager und nutzt eine separate Physikszene, aber die Entscheidung im vorhandenen Code ist keine fertig trainierte Reinforcement Learning Policy. Stattdessen werden mehrere Zielhöhen getestet. Der Shadow Agent springt, wenn er unter der Zielhöhe ist und fällt. Die Simulation läuft mit festen Zeitschritten. Kommt der Agent weit genug nach rechts, gilt das Hindernis als spielbar. Das ist ein guter Prototyp für automatisiertes Testen, aber noch kein vollständiger ML Agent.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Diese Folie ist die wichtigste Zusammenfassung des technischen Ablaufs. Der Generator liefert Zahlen. Der Spawner entscheidet, dass daraus ein Tunnel wird. Der Validator testet das Muster. Nur bei Erfolg wird gespawnt. Das Publikum sollte hier verstehen: Die KI ist Teil eines geschlossenen Loops. Nicht alles was erzeugt wird, wird auch gezeigt. Dadurch wird generativer Content kontrollierbar.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etwa 2 Minuten. Bei generativen Spielen geht es nicht nur darum, viele Hindernisse zu erzeugen. Fairness und Performance sind genauso wichtig. Fairness bedeutet, dass jede Sequenz prinzipiell schaffbar sein soll. Performance bedeutet, dass die Prüfung nicht den Spielfluss zerstören darf. Der Spawner erzeugt voraus, nutzt einen Spawn Buffer und räumt alte Objekte auf. Eine ausgereifte Version würde zusätzlich Messwerte wie durchschnittliche Validierungszeit und worst case Zeit zeigen.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F732F-255A-E3B7-1C04-87BF3BC91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FB5D8-9C1D-5E3A-CD94-211618215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C9E8D-3CCD-93EA-53AF-911058350362}"/>
              </a:ext>
            </a:extLst>
          </p:cNvPr>
          <p:cNvSpPr>
            <a:spLocks noGrp="1"/>
          </p:cNvSpPr>
          <p:nvPr>
            <p:ph type="body" idx="1"/>
          </p:nvPr>
        </p:nvSpPr>
        <p:spPr/>
        <p:txBody>
          <a:bodyPr/>
          <a:lstStyle/>
          <a:p>
            <a:r>
              <a:rPr lang="en-US" dirty="0"/>
              <a:t>Zeit, etwa 1 Minute. Einstieg: AiR steht für Artificial intelligence Runner. Die Grundidee ist ein Endless Runner, der nicht nur feste Levelstücke oder rein zufällige Hindernisse nutzt. Das Spiel soll während der Laufzeit neue Hindernisse erzeugen und vor dem Spawnen prüfen, ob sie spielbar sind. Die Präsentation konzentriert sich deshalb auf drei Fragen: Was erzeugt der Generator, wie wird daraus ein Level, und wie prüft der Validator während des Spiels, ob ein Hindernis fair ist.</a:t>
            </a:r>
          </a:p>
        </p:txBody>
      </p:sp>
      <p:sp>
        <p:nvSpPr>
          <p:cNvPr id="4" name="Slide Number Placeholder 3">
            <a:extLst>
              <a:ext uri="{FF2B5EF4-FFF2-40B4-BE49-F238E27FC236}">
                <a16:creationId xmlns:a16="http://schemas.microsoft.com/office/drawing/2014/main" id="{2EC17BDA-9D57-C257-2DE5-EFFD97C13DC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23379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E9329-F2CC-B61E-B456-E26A266B7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3E53A-E124-C8D1-3613-5EDA6F9D4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17984-FD35-56E7-58F7-35E79E594E07}"/>
              </a:ext>
            </a:extLst>
          </p:cNvPr>
          <p:cNvSpPr>
            <a:spLocks noGrp="1"/>
          </p:cNvSpPr>
          <p:nvPr>
            <p:ph type="body" idx="1"/>
          </p:nvPr>
        </p:nvSpPr>
        <p:spPr/>
        <p:txBody>
          <a:bodyPr/>
          <a:lstStyle/>
          <a:p>
            <a:r>
              <a:rPr lang="en-US" dirty="0"/>
              <a:t>Zeit, etwa 1 Minute. Einstieg: AiR steht für Artificial intelligence Runner. Die Grundidee ist ein Endless Runner, der nicht nur feste Levelstücke oder rein zufällige Hindernisse nutzt. Das Spiel soll während der Laufzeit neue Hindernisse erzeugen und vor dem Spawnen prüfen, ob sie spielbar sind. Die Präsentation konzentriert sich deshalb auf drei Fragen: Was erzeugt der Generator, wie wird daraus ein Level, und wie prüft der Validator während des Spiels, ob ein Hindernis fair ist.</a:t>
            </a:r>
          </a:p>
        </p:txBody>
      </p:sp>
      <p:sp>
        <p:nvSpPr>
          <p:cNvPr id="4" name="Slide Number Placeholder 3">
            <a:extLst>
              <a:ext uri="{FF2B5EF4-FFF2-40B4-BE49-F238E27FC236}">
                <a16:creationId xmlns:a16="http://schemas.microsoft.com/office/drawing/2014/main" id="{8404C007-8C77-05B7-BFB3-042EE3E4C93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00157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A11D7-8BC5-609D-AE06-3DCAFC1A3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8D3F5-4F87-C0B6-8994-DED56D198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0320E-D746-5553-C28C-7D44F27107D0}"/>
              </a:ext>
            </a:extLst>
          </p:cNvPr>
          <p:cNvSpPr>
            <a:spLocks noGrp="1"/>
          </p:cNvSpPr>
          <p:nvPr>
            <p:ph type="body" idx="1"/>
          </p:nvPr>
        </p:nvSpPr>
        <p:spPr/>
        <p:txBody>
          <a:bodyPr/>
          <a:lstStyle/>
          <a:p>
            <a:r>
              <a:rPr lang="en-US" dirty="0"/>
              <a:t>Zeit, etwa 1 Minute. Einstieg: AiR steht für Artificial intelligence Runner. Die Grundidee ist ein Endless Runner, der nicht nur feste Levelstücke oder rein zufällige Hindernisse nutzt. Das Spiel soll während der Laufzeit neue Hindernisse erzeugen und vor dem Spawnen prüfen, ob sie spielbar sind. Die Präsentation konzentriert sich deshalb auf drei Fragen: Was erzeugt der Generator, wie wird daraus ein Level, und wie prüft der Validator während des Spiels, ob ein Hindernis fair ist.</a:t>
            </a:r>
          </a:p>
        </p:txBody>
      </p:sp>
      <p:sp>
        <p:nvSpPr>
          <p:cNvPr id="4" name="Slide Number Placeholder 3">
            <a:extLst>
              <a:ext uri="{FF2B5EF4-FFF2-40B4-BE49-F238E27FC236}">
                <a16:creationId xmlns:a16="http://schemas.microsoft.com/office/drawing/2014/main" id="{BF0F5DBB-CD7A-3559-2AFB-5C0F00B3A03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40990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ir_imgs/hero.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92000"/>
            </a:srgbClr>
          </a:solidFill>
          <a:ln w="12700">
            <a:solidFill>
              <a:srgbClr val="000B16">
                <a:alpha val="0"/>
              </a:srgbClr>
            </a:solidFill>
            <a:prstDash val="solid"/>
          </a:ln>
        </p:spPr>
        <p:txBody>
          <a:bodyPr/>
          <a:lstStyle/>
          <a:p>
            <a:endParaRPr lang="de-AT"/>
          </a:p>
        </p:txBody>
      </p:sp>
      <p:sp>
        <p:nvSpPr>
          <p:cNvPr id="4" name="Shape 1"/>
          <p:cNvSpPr/>
          <p:nvPr/>
        </p:nvSpPr>
        <p:spPr>
          <a:xfrm>
            <a:off x="0" y="0"/>
            <a:ext cx="6309360" cy="6263640"/>
          </a:xfrm>
          <a:prstGeom prst="rect">
            <a:avLst/>
          </a:prstGeom>
          <a:solidFill>
            <a:srgbClr val="03111D">
              <a:alpha val="92000"/>
            </a:srgbClr>
          </a:solidFill>
          <a:ln w="12700">
            <a:solidFill>
              <a:srgbClr val="03111D">
                <a:alpha val="0"/>
              </a:srgbClr>
            </a:solidFill>
            <a:prstDash val="solid"/>
          </a:ln>
        </p:spPr>
        <p:txBody>
          <a:bodyPr/>
          <a:lstStyle/>
          <a:p>
            <a:endParaRPr lang="de-AT" dirty="0"/>
          </a:p>
        </p:txBody>
      </p:sp>
      <p:sp>
        <p:nvSpPr>
          <p:cNvPr id="5" name="Text 2"/>
          <p:cNvSpPr/>
          <p:nvPr/>
        </p:nvSpPr>
        <p:spPr>
          <a:xfrm>
            <a:off x="594360" y="914400"/>
            <a:ext cx="2468880" cy="640080"/>
          </a:xfrm>
          <a:prstGeom prst="rect">
            <a:avLst/>
          </a:prstGeom>
          <a:noFill/>
          <a:ln/>
        </p:spPr>
        <p:txBody>
          <a:bodyPr wrap="square" lIns="0" tIns="0" rIns="0" bIns="0" rtlCol="0" anchor="ctr"/>
          <a:lstStyle/>
          <a:p>
            <a:pPr marL="0" indent="0">
              <a:buNone/>
            </a:pPr>
            <a:r>
              <a:rPr lang="en-US" sz="5400" b="1" dirty="0">
                <a:solidFill>
                  <a:srgbClr val="F4F8FF"/>
                </a:solidFill>
                <a:latin typeface="Aptos Display" pitchFamily="34" charset="0"/>
                <a:ea typeface="Aptos Display" pitchFamily="34" charset="-122"/>
                <a:cs typeface="Aptos Display" pitchFamily="34" charset="-120"/>
              </a:rPr>
              <a:t>AiR</a:t>
            </a:r>
            <a:endParaRPr lang="en-US" sz="5400" dirty="0"/>
          </a:p>
        </p:txBody>
      </p:sp>
      <p:sp>
        <p:nvSpPr>
          <p:cNvPr id="6" name="Text 3"/>
          <p:cNvSpPr/>
          <p:nvPr/>
        </p:nvSpPr>
        <p:spPr>
          <a:xfrm>
            <a:off x="621792" y="1691640"/>
            <a:ext cx="4983480" cy="822960"/>
          </a:xfrm>
          <a:prstGeom prst="rect">
            <a:avLst/>
          </a:prstGeom>
          <a:noFill/>
          <a:ln/>
        </p:spPr>
        <p:txBody>
          <a:bodyPr wrap="square" lIns="0" tIns="0" rIns="0" bIns="0" rtlCol="0" anchor="ctr">
            <a:normAutofit/>
          </a:bodyPr>
          <a:lstStyle/>
          <a:p>
            <a:pPr marL="0" indent="0">
              <a:buNone/>
            </a:pPr>
            <a:r>
              <a:rPr lang="en-US" sz="2700" b="1" dirty="0">
                <a:solidFill>
                  <a:srgbClr val="F4F8FF"/>
                </a:solidFill>
                <a:latin typeface="Aptos Display" pitchFamily="34" charset="0"/>
                <a:ea typeface="Aptos Display" pitchFamily="34" charset="-122"/>
                <a:cs typeface="Aptos Display" pitchFamily="34" charset="-120"/>
              </a:rPr>
              <a:t>KI basierte Level Generierung im Endless Runner</a:t>
            </a:r>
            <a:endParaRPr lang="en-US" sz="2700" dirty="0"/>
          </a:p>
        </p:txBody>
      </p:sp>
      <p:sp>
        <p:nvSpPr>
          <p:cNvPr id="8" name="Shape 5"/>
          <p:cNvSpPr/>
          <p:nvPr/>
        </p:nvSpPr>
        <p:spPr>
          <a:xfrm>
            <a:off x="548640" y="2763041"/>
            <a:ext cx="1417320" cy="384048"/>
          </a:xfrm>
          <a:prstGeom prst="roundRect">
            <a:avLst>
              <a:gd name="adj" fmla="val 19048"/>
            </a:avLst>
          </a:prstGeom>
          <a:solidFill>
            <a:srgbClr val="3DDCFF">
              <a:alpha val="90000"/>
            </a:srgbClr>
          </a:solidFill>
          <a:ln w="12700">
            <a:solidFill>
              <a:srgbClr val="3DDCFF">
                <a:alpha val="85000"/>
              </a:srgbClr>
            </a:solidFill>
            <a:prstDash val="solid"/>
          </a:ln>
        </p:spPr>
        <p:txBody>
          <a:bodyPr/>
          <a:lstStyle/>
          <a:p>
            <a:endParaRPr lang="de-AT"/>
          </a:p>
        </p:txBody>
      </p:sp>
      <p:sp>
        <p:nvSpPr>
          <p:cNvPr id="9" name="Text 6"/>
          <p:cNvSpPr/>
          <p:nvPr/>
        </p:nvSpPr>
        <p:spPr>
          <a:xfrm>
            <a:off x="658368" y="2845337"/>
            <a:ext cx="1197864" cy="182880"/>
          </a:xfrm>
          <a:prstGeom prst="rect">
            <a:avLst/>
          </a:prstGeom>
          <a:noFill/>
          <a:ln/>
        </p:spPr>
        <p:txBody>
          <a:bodyPr wrap="square" lIns="0" tIns="0" rIns="0" bIns="0" rtlCol="0" anchor="ctr"/>
          <a:lstStyle/>
          <a:p>
            <a:pPr marL="0" indent="0" algn="ctr">
              <a:buNone/>
            </a:pPr>
            <a:r>
              <a:rPr lang="en-US" sz="1000" b="1" dirty="0">
                <a:solidFill>
                  <a:srgbClr val="03111D"/>
                </a:solidFill>
              </a:rPr>
              <a:t>Unity Sentis</a:t>
            </a:r>
            <a:endParaRPr lang="en-US" sz="1000" dirty="0"/>
          </a:p>
        </p:txBody>
      </p:sp>
      <p:sp>
        <p:nvSpPr>
          <p:cNvPr id="10" name="Shape 7"/>
          <p:cNvSpPr/>
          <p:nvPr/>
        </p:nvSpPr>
        <p:spPr>
          <a:xfrm>
            <a:off x="2148840" y="2763041"/>
            <a:ext cx="1508760" cy="384048"/>
          </a:xfrm>
          <a:prstGeom prst="roundRect">
            <a:avLst>
              <a:gd name="adj" fmla="val 19048"/>
            </a:avLst>
          </a:prstGeom>
          <a:solidFill>
            <a:srgbClr val="50E3A4">
              <a:alpha val="90000"/>
            </a:srgbClr>
          </a:solidFill>
          <a:ln w="12700">
            <a:solidFill>
              <a:srgbClr val="50E3A4">
                <a:alpha val="85000"/>
              </a:srgbClr>
            </a:solidFill>
            <a:prstDash val="solid"/>
          </a:ln>
        </p:spPr>
        <p:txBody>
          <a:bodyPr/>
          <a:lstStyle/>
          <a:p>
            <a:endParaRPr lang="de-AT"/>
          </a:p>
        </p:txBody>
      </p:sp>
      <p:sp>
        <p:nvSpPr>
          <p:cNvPr id="11" name="Text 8"/>
          <p:cNvSpPr/>
          <p:nvPr/>
        </p:nvSpPr>
        <p:spPr>
          <a:xfrm>
            <a:off x="2258568" y="2845337"/>
            <a:ext cx="1289304" cy="182880"/>
          </a:xfrm>
          <a:prstGeom prst="rect">
            <a:avLst/>
          </a:prstGeom>
          <a:noFill/>
          <a:ln/>
        </p:spPr>
        <p:txBody>
          <a:bodyPr wrap="square" lIns="0" tIns="0" rIns="0" bIns="0" rtlCol="0" anchor="ctr"/>
          <a:lstStyle/>
          <a:p>
            <a:pPr marL="0" indent="0" algn="ctr">
              <a:buNone/>
            </a:pPr>
            <a:r>
              <a:rPr lang="en-US" sz="1000" b="1" dirty="0">
                <a:solidFill>
                  <a:srgbClr val="03111D"/>
                </a:solidFill>
              </a:rPr>
              <a:t>ML Agents Idee</a:t>
            </a:r>
            <a:endParaRPr lang="en-US" sz="1000" dirty="0"/>
          </a:p>
        </p:txBody>
      </p:sp>
      <p:sp>
        <p:nvSpPr>
          <p:cNvPr id="12" name="Shape 9"/>
          <p:cNvSpPr/>
          <p:nvPr/>
        </p:nvSpPr>
        <p:spPr>
          <a:xfrm>
            <a:off x="3840480" y="2763041"/>
            <a:ext cx="1874520" cy="384048"/>
          </a:xfrm>
          <a:prstGeom prst="roundRect">
            <a:avLst>
              <a:gd name="adj" fmla="val 19048"/>
            </a:avLst>
          </a:prstGeom>
          <a:solidFill>
            <a:srgbClr val="FFB14E">
              <a:alpha val="90000"/>
            </a:srgbClr>
          </a:solidFill>
          <a:ln w="12700">
            <a:solidFill>
              <a:srgbClr val="FFB14E">
                <a:alpha val="85000"/>
              </a:srgbClr>
            </a:solidFill>
            <a:prstDash val="solid"/>
          </a:ln>
        </p:spPr>
        <p:txBody>
          <a:bodyPr/>
          <a:lstStyle/>
          <a:p>
            <a:endParaRPr lang="de-AT"/>
          </a:p>
        </p:txBody>
      </p:sp>
      <p:sp>
        <p:nvSpPr>
          <p:cNvPr id="13" name="Text 10"/>
          <p:cNvSpPr/>
          <p:nvPr/>
        </p:nvSpPr>
        <p:spPr>
          <a:xfrm>
            <a:off x="3950208" y="2845337"/>
            <a:ext cx="1655064" cy="182880"/>
          </a:xfrm>
          <a:prstGeom prst="rect">
            <a:avLst/>
          </a:prstGeom>
          <a:noFill/>
          <a:ln/>
        </p:spPr>
        <p:txBody>
          <a:bodyPr wrap="square" lIns="0" tIns="0" rIns="0" bIns="0" rtlCol="0" anchor="ctr"/>
          <a:lstStyle/>
          <a:p>
            <a:pPr marL="0" indent="0" algn="ctr">
              <a:buNone/>
            </a:pPr>
            <a:r>
              <a:rPr lang="en-US" sz="1000" b="1" dirty="0">
                <a:solidFill>
                  <a:srgbClr val="03111D"/>
                </a:solidFill>
              </a:rPr>
              <a:t>Prozedurale Meshes</a:t>
            </a:r>
            <a:endParaRPr lang="en-US" sz="1000" dirty="0"/>
          </a:p>
        </p:txBody>
      </p:sp>
      <p:sp>
        <p:nvSpPr>
          <p:cNvPr id="14" name="Text 11"/>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15" name="Text 12"/>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air_imgs/evolution.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75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err="1">
                <a:solidFill>
                  <a:srgbClr val="F4F8FF"/>
                </a:solidFill>
                <a:latin typeface="Aptos Display" pitchFamily="34" charset="0"/>
                <a:ea typeface="Aptos Display" pitchFamily="34" charset="-122"/>
                <a:cs typeface="Aptos Display" pitchFamily="34" charset="-120"/>
              </a:rPr>
              <a:t>Warum</a:t>
            </a:r>
            <a:r>
              <a:rPr lang="en-US" sz="2800" b="1" dirty="0">
                <a:solidFill>
                  <a:srgbClr val="F4F8FF"/>
                </a:solidFill>
                <a:latin typeface="Aptos Display" pitchFamily="34" charset="0"/>
                <a:ea typeface="Aptos Display" pitchFamily="34" charset="-122"/>
                <a:cs typeface="Aptos Display" pitchFamily="34" charset="-120"/>
              </a:rPr>
              <a:t> AIR </a:t>
            </a:r>
            <a:r>
              <a:rPr lang="en-US" sz="2800" b="1" dirty="0" err="1">
                <a:solidFill>
                  <a:srgbClr val="F4F8FF"/>
                </a:solidFill>
                <a:latin typeface="Aptos Display" pitchFamily="34" charset="0"/>
                <a:ea typeface="Aptos Display" pitchFamily="34" charset="-122"/>
                <a:cs typeface="Aptos Display" pitchFamily="34" charset="-120"/>
              </a:rPr>
              <a:t>mehr</a:t>
            </a:r>
            <a:r>
              <a:rPr lang="en-US" sz="2800" b="1" dirty="0">
                <a:solidFill>
                  <a:srgbClr val="F4F8FF"/>
                </a:solidFill>
                <a:latin typeface="Aptos Display" pitchFamily="34" charset="0"/>
                <a:ea typeface="Aptos Display" pitchFamily="34" charset="-122"/>
                <a:cs typeface="Aptos Display" pitchFamily="34" charset="-120"/>
              </a:rPr>
              <a:t> Generierung erlaubt</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Mehr Dimensionen bedeuten mehr sinnvolle Entscheidungen für die KI</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777240" y="1508760"/>
            <a:ext cx="4846320" cy="3520440"/>
          </a:xfrm>
          <a:prstGeom prst="rect">
            <a:avLst/>
          </a:prstGeom>
          <a:solidFill>
            <a:srgbClr val="061827">
              <a:alpha val="94000"/>
            </a:srgbClr>
          </a:solidFill>
          <a:ln w="12700">
            <a:solidFill>
              <a:srgbClr val="9DB0C2"/>
            </a:solidFill>
            <a:prstDash val="solid"/>
          </a:ln>
        </p:spPr>
        <p:txBody>
          <a:bodyPr/>
          <a:lstStyle/>
          <a:p>
            <a:endParaRPr lang="de-AT"/>
          </a:p>
        </p:txBody>
      </p:sp>
      <p:sp>
        <p:nvSpPr>
          <p:cNvPr id="8" name="Shape 5"/>
          <p:cNvSpPr/>
          <p:nvPr/>
        </p:nvSpPr>
        <p:spPr>
          <a:xfrm>
            <a:off x="6537960" y="1508760"/>
            <a:ext cx="4846320" cy="3520440"/>
          </a:xfrm>
          <a:prstGeom prst="rect">
            <a:avLst/>
          </a:prstGeom>
          <a:solidFill>
            <a:srgbClr val="061827">
              <a:alpha val="94000"/>
            </a:srgbClr>
          </a:solidFill>
          <a:ln w="12700">
            <a:solidFill>
              <a:srgbClr val="3DDCFF"/>
            </a:solidFill>
            <a:prstDash val="solid"/>
          </a:ln>
        </p:spPr>
        <p:txBody>
          <a:bodyPr/>
          <a:lstStyle/>
          <a:p>
            <a:endParaRPr lang="de-AT" dirty="0"/>
          </a:p>
        </p:txBody>
      </p:sp>
      <p:sp>
        <p:nvSpPr>
          <p:cNvPr id="9" name="Text 6"/>
          <p:cNvSpPr/>
          <p:nvPr/>
        </p:nvSpPr>
        <p:spPr>
          <a:xfrm>
            <a:off x="1005840" y="1783080"/>
            <a:ext cx="4297680" cy="274320"/>
          </a:xfrm>
          <a:prstGeom prst="rect">
            <a:avLst/>
          </a:prstGeom>
          <a:noFill/>
          <a:ln/>
        </p:spPr>
        <p:txBody>
          <a:bodyPr wrap="square" lIns="0" tIns="0" rIns="0" bIns="0" rtlCol="0" anchor="ctr"/>
          <a:lstStyle/>
          <a:p>
            <a:pPr marL="0" indent="0" algn="ctr">
              <a:buNone/>
            </a:pPr>
            <a:r>
              <a:rPr lang="en-US" sz="1800" b="1" dirty="0">
                <a:solidFill>
                  <a:srgbClr val="9DB0C2"/>
                </a:solidFill>
              </a:rPr>
              <a:t>Klassisches Jump and Run</a:t>
            </a:r>
            <a:endParaRPr lang="en-US" sz="1800" dirty="0"/>
          </a:p>
        </p:txBody>
      </p:sp>
      <p:sp>
        <p:nvSpPr>
          <p:cNvPr id="10" name="Text 7"/>
          <p:cNvSpPr/>
          <p:nvPr/>
        </p:nvSpPr>
        <p:spPr>
          <a:xfrm>
            <a:off x="1188720" y="2423160"/>
            <a:ext cx="4023360" cy="1828800"/>
          </a:xfrm>
          <a:prstGeom prst="rect">
            <a:avLst/>
          </a:prstGeom>
          <a:noFill/>
          <a:ln/>
        </p:spPr>
        <p:txBody>
          <a:bodyPr wrap="square" lIns="508" tIns="508" rIns="508" bIns="508" rtlCol="0" anchor="ctr">
            <a:normAutofit/>
          </a:bodyPr>
          <a:lstStyle/>
          <a:p>
            <a:pPr marL="152400" indent="-152400">
              <a:buSzPct val="100000"/>
              <a:buChar char="•"/>
            </a:pPr>
            <a:r>
              <a:rPr lang="en-US" sz="1500" dirty="0">
                <a:solidFill>
                  <a:srgbClr val="F4F8FF"/>
                </a:solidFill>
              </a:rPr>
              <a:t>Boden als feste Linie</a:t>
            </a:r>
            <a:endParaRPr lang="en-US" sz="1500" dirty="0"/>
          </a:p>
          <a:p>
            <a:pPr marL="152400" indent="-152400">
              <a:buSzPct val="100000"/>
              <a:buChar char="•"/>
            </a:pPr>
            <a:r>
              <a:rPr lang="en-US" sz="1500" dirty="0">
                <a:solidFill>
                  <a:srgbClr val="F4F8FF"/>
                </a:solidFill>
              </a:rPr>
              <a:t>Hindernis oft nur Höhe und Abstand</a:t>
            </a:r>
            <a:endParaRPr lang="en-US" sz="1500" dirty="0"/>
          </a:p>
          <a:p>
            <a:pPr marL="152400" indent="-152400">
              <a:buSzPct val="100000"/>
              <a:buChar char="•"/>
            </a:pPr>
            <a:r>
              <a:rPr lang="en-US" sz="1500" dirty="0">
                <a:solidFill>
                  <a:srgbClr val="F4F8FF"/>
                </a:solidFill>
              </a:rPr>
              <a:t>wenige Muster</a:t>
            </a:r>
            <a:endParaRPr lang="en-US" sz="1500" dirty="0"/>
          </a:p>
          <a:p>
            <a:pPr marL="152400" indent="-152400">
              <a:buSzPct val="100000"/>
              <a:buChar char="•"/>
            </a:pPr>
            <a:r>
              <a:rPr lang="en-US" sz="1500" dirty="0">
                <a:solidFill>
                  <a:srgbClr val="F4F8FF"/>
                </a:solidFill>
              </a:rPr>
              <a:t>KI hätte wenig Freiheitsgrad</a:t>
            </a:r>
            <a:endParaRPr lang="en-US" sz="1500" dirty="0"/>
          </a:p>
        </p:txBody>
      </p:sp>
      <p:sp>
        <p:nvSpPr>
          <p:cNvPr id="11" name="Text 8"/>
          <p:cNvSpPr/>
          <p:nvPr/>
        </p:nvSpPr>
        <p:spPr>
          <a:xfrm>
            <a:off x="6766560" y="1783080"/>
            <a:ext cx="4389120" cy="274320"/>
          </a:xfrm>
          <a:prstGeom prst="rect">
            <a:avLst/>
          </a:prstGeom>
          <a:noFill/>
          <a:ln/>
        </p:spPr>
        <p:txBody>
          <a:bodyPr wrap="square" lIns="0" tIns="0" rIns="0" bIns="0" rtlCol="0" anchor="ctr"/>
          <a:lstStyle/>
          <a:p>
            <a:pPr marL="0" indent="0" algn="ctr">
              <a:buNone/>
            </a:pPr>
            <a:r>
              <a:rPr lang="en-US" b="1" dirty="0">
                <a:solidFill>
                  <a:srgbClr val="3DDCFF"/>
                </a:solidFill>
              </a:rPr>
              <a:t>AIR</a:t>
            </a:r>
            <a:endParaRPr lang="en-US" sz="1800" dirty="0"/>
          </a:p>
        </p:txBody>
      </p:sp>
      <p:sp>
        <p:nvSpPr>
          <p:cNvPr id="12" name="Text 9"/>
          <p:cNvSpPr/>
          <p:nvPr/>
        </p:nvSpPr>
        <p:spPr>
          <a:xfrm>
            <a:off x="6903720" y="2423160"/>
            <a:ext cx="4023360" cy="1828800"/>
          </a:xfrm>
          <a:prstGeom prst="rect">
            <a:avLst/>
          </a:prstGeom>
          <a:noFill/>
          <a:ln/>
        </p:spPr>
        <p:txBody>
          <a:bodyPr wrap="square" lIns="508" tIns="508" rIns="508" bIns="508" rtlCol="0" anchor="ctr">
            <a:normAutofit/>
          </a:bodyPr>
          <a:lstStyle/>
          <a:p>
            <a:pPr marL="152400" indent="-152400">
              <a:buSzPct val="100000"/>
              <a:buChar char="•"/>
            </a:pPr>
            <a:r>
              <a:rPr lang="en-US" sz="1500" dirty="0">
                <a:solidFill>
                  <a:srgbClr val="F4F8FF"/>
                </a:solidFill>
              </a:rPr>
              <a:t>freie vertikale Position</a:t>
            </a:r>
            <a:endParaRPr lang="en-US" sz="1500" dirty="0"/>
          </a:p>
          <a:p>
            <a:pPr marL="152400" indent="-152400">
              <a:buSzPct val="100000"/>
              <a:buChar char="•"/>
            </a:pPr>
            <a:r>
              <a:rPr lang="en-US" sz="1500" dirty="0">
                <a:solidFill>
                  <a:srgbClr val="F4F8FF"/>
                </a:solidFill>
              </a:rPr>
              <a:t>unterschiedliche Meteoritenformen</a:t>
            </a:r>
            <a:endParaRPr lang="en-US" sz="1500" dirty="0"/>
          </a:p>
          <a:p>
            <a:pPr marL="152400" indent="-152400">
              <a:buSzPct val="100000"/>
              <a:buChar char="•"/>
            </a:pPr>
            <a:r>
              <a:rPr lang="en-US" sz="1500" dirty="0">
                <a:solidFill>
                  <a:srgbClr val="F4F8FF"/>
                </a:solidFill>
              </a:rPr>
              <a:t>Tunnel, Cluster, Sequenzen</a:t>
            </a:r>
            <a:endParaRPr lang="en-US" sz="1500" dirty="0"/>
          </a:p>
          <a:p>
            <a:pPr marL="152400" indent="-152400">
              <a:buSzPct val="100000"/>
              <a:buChar char="•"/>
            </a:pPr>
            <a:r>
              <a:rPr lang="en-US" sz="1500" dirty="0">
                <a:solidFill>
                  <a:srgbClr val="F4F8FF"/>
                </a:solidFill>
              </a:rPr>
              <a:t>Validator testet Flugbahn statt nur Sprungweite</a:t>
            </a:r>
            <a:endParaRPr lang="en-US" sz="1500" dirty="0"/>
          </a:p>
        </p:txBody>
      </p:sp>
      <p:sp>
        <p:nvSpPr>
          <p:cNvPr id="15" name="Text 12"/>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16" name="Text 13"/>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8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Was passiert im Spiel?</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Der sichtbare Ablauf für Spielerinnen und Spieler</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pic>
        <p:nvPicPr>
          <p:cNvPr id="7" name="Image 1" descr="/mnt/data/air_imgs/ship.png"/>
          <p:cNvPicPr>
            <a:picLocks noChangeAspect="1"/>
          </p:cNvPicPr>
          <p:nvPr/>
        </p:nvPicPr>
        <p:blipFill>
          <a:blip r:embed="rId4"/>
          <a:stretch>
            <a:fillRect/>
          </a:stretch>
        </p:blipFill>
        <p:spPr>
          <a:xfrm>
            <a:off x="777240" y="1600200"/>
            <a:ext cx="2011680" cy="2011680"/>
          </a:xfrm>
          <a:prstGeom prst="rect">
            <a:avLst/>
          </a:prstGeom>
        </p:spPr>
      </p:pic>
      <p:sp>
        <p:nvSpPr>
          <p:cNvPr id="8" name="Shape 4"/>
          <p:cNvSpPr/>
          <p:nvPr/>
        </p:nvSpPr>
        <p:spPr>
          <a:xfrm>
            <a:off x="3108960" y="1417320"/>
            <a:ext cx="3246120" cy="868680"/>
          </a:xfrm>
          <a:prstGeom prst="roundRect">
            <a:avLst>
              <a:gd name="adj" fmla="val 11579"/>
            </a:avLst>
          </a:prstGeom>
          <a:solidFill>
            <a:srgbClr val="0E2537">
              <a:alpha val="97000"/>
            </a:srgbClr>
          </a:solidFill>
          <a:ln w="12700">
            <a:solidFill>
              <a:srgbClr val="3DDCFF"/>
            </a:solidFill>
            <a:prstDash val="solid"/>
          </a:ln>
        </p:spPr>
        <p:txBody>
          <a:bodyPr/>
          <a:lstStyle/>
          <a:p>
            <a:endParaRPr lang="de-AT"/>
          </a:p>
        </p:txBody>
      </p:sp>
      <p:sp>
        <p:nvSpPr>
          <p:cNvPr id="9" name="Shape 5"/>
          <p:cNvSpPr/>
          <p:nvPr/>
        </p:nvSpPr>
        <p:spPr>
          <a:xfrm>
            <a:off x="3218688" y="1572768"/>
            <a:ext cx="530352" cy="530352"/>
          </a:xfrm>
          <a:prstGeom prst="ellipse">
            <a:avLst/>
          </a:prstGeom>
          <a:solidFill>
            <a:srgbClr val="3DDCFF"/>
          </a:solidFill>
          <a:ln w="12700">
            <a:solidFill>
              <a:srgbClr val="3DDCFF">
                <a:alpha val="0"/>
              </a:srgbClr>
            </a:solidFill>
            <a:prstDash val="solid"/>
          </a:ln>
        </p:spPr>
        <p:txBody>
          <a:bodyPr/>
          <a:lstStyle/>
          <a:p>
            <a:endParaRPr lang="de-AT"/>
          </a:p>
        </p:txBody>
      </p:sp>
      <p:sp>
        <p:nvSpPr>
          <p:cNvPr id="10" name="Text 6"/>
          <p:cNvSpPr/>
          <p:nvPr/>
        </p:nvSpPr>
        <p:spPr>
          <a:xfrm>
            <a:off x="3218688" y="168249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1</a:t>
            </a:r>
            <a:endParaRPr lang="en-US" sz="1200" dirty="0"/>
          </a:p>
        </p:txBody>
      </p:sp>
      <p:sp>
        <p:nvSpPr>
          <p:cNvPr id="11" name="Text 7"/>
          <p:cNvSpPr/>
          <p:nvPr/>
        </p:nvSpPr>
        <p:spPr>
          <a:xfrm>
            <a:off x="3858768" y="1545336"/>
            <a:ext cx="2377440" cy="228600"/>
          </a:xfrm>
          <a:prstGeom prst="rect">
            <a:avLst/>
          </a:prstGeom>
          <a:noFill/>
          <a:ln/>
        </p:spPr>
        <p:txBody>
          <a:bodyPr wrap="square" lIns="0" tIns="0" rIns="0" bIns="0" rtlCol="0" anchor="ctr"/>
          <a:lstStyle/>
          <a:p>
            <a:pPr marL="0" indent="0">
              <a:buNone/>
            </a:pPr>
            <a:r>
              <a:rPr lang="en-US" sz="1500" b="1" dirty="0">
                <a:solidFill>
                  <a:srgbClr val="F4F8FF"/>
                </a:solidFill>
              </a:rPr>
              <a:t>Difficulty</a:t>
            </a:r>
            <a:endParaRPr lang="en-US" sz="1500" dirty="0"/>
          </a:p>
        </p:txBody>
      </p:sp>
      <p:sp>
        <p:nvSpPr>
          <p:cNvPr id="12" name="Text 8"/>
          <p:cNvSpPr/>
          <p:nvPr/>
        </p:nvSpPr>
        <p:spPr>
          <a:xfrm>
            <a:off x="3858768" y="1856232"/>
            <a:ext cx="237744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Easy, Medium, Hard, Impossible</a:t>
            </a:r>
            <a:endParaRPr lang="en-US" sz="1020" dirty="0"/>
          </a:p>
        </p:txBody>
      </p:sp>
      <p:sp>
        <p:nvSpPr>
          <p:cNvPr id="14" name="Shape 10"/>
          <p:cNvSpPr/>
          <p:nvPr/>
        </p:nvSpPr>
        <p:spPr>
          <a:xfrm>
            <a:off x="6766560" y="1417320"/>
            <a:ext cx="3246120" cy="868680"/>
          </a:xfrm>
          <a:prstGeom prst="roundRect">
            <a:avLst>
              <a:gd name="adj" fmla="val 11579"/>
            </a:avLst>
          </a:prstGeom>
          <a:solidFill>
            <a:srgbClr val="0E2537">
              <a:alpha val="97000"/>
            </a:srgbClr>
          </a:solidFill>
          <a:ln w="12700">
            <a:solidFill>
              <a:srgbClr val="50E3A4"/>
            </a:solidFill>
            <a:prstDash val="solid"/>
          </a:ln>
        </p:spPr>
        <p:txBody>
          <a:bodyPr/>
          <a:lstStyle/>
          <a:p>
            <a:endParaRPr lang="de-AT"/>
          </a:p>
        </p:txBody>
      </p:sp>
      <p:sp>
        <p:nvSpPr>
          <p:cNvPr id="15" name="Shape 11"/>
          <p:cNvSpPr/>
          <p:nvPr/>
        </p:nvSpPr>
        <p:spPr>
          <a:xfrm>
            <a:off x="6876288" y="1572768"/>
            <a:ext cx="530352" cy="530352"/>
          </a:xfrm>
          <a:prstGeom prst="ellipse">
            <a:avLst/>
          </a:prstGeom>
          <a:solidFill>
            <a:srgbClr val="50E3A4"/>
          </a:solidFill>
          <a:ln w="12700">
            <a:solidFill>
              <a:srgbClr val="50E3A4">
                <a:alpha val="0"/>
              </a:srgbClr>
            </a:solidFill>
            <a:prstDash val="solid"/>
          </a:ln>
        </p:spPr>
        <p:txBody>
          <a:bodyPr/>
          <a:lstStyle/>
          <a:p>
            <a:endParaRPr lang="de-AT"/>
          </a:p>
        </p:txBody>
      </p:sp>
      <p:sp>
        <p:nvSpPr>
          <p:cNvPr id="16" name="Text 12"/>
          <p:cNvSpPr/>
          <p:nvPr/>
        </p:nvSpPr>
        <p:spPr>
          <a:xfrm>
            <a:off x="6876288" y="168249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2</a:t>
            </a:r>
            <a:endParaRPr lang="en-US" sz="1200" dirty="0"/>
          </a:p>
        </p:txBody>
      </p:sp>
      <p:sp>
        <p:nvSpPr>
          <p:cNvPr id="20" name="Shape 16"/>
          <p:cNvSpPr/>
          <p:nvPr/>
        </p:nvSpPr>
        <p:spPr>
          <a:xfrm>
            <a:off x="3108960" y="2642616"/>
            <a:ext cx="3246120" cy="868680"/>
          </a:xfrm>
          <a:prstGeom prst="roundRect">
            <a:avLst>
              <a:gd name="adj" fmla="val 11579"/>
            </a:avLst>
          </a:prstGeom>
          <a:solidFill>
            <a:srgbClr val="0E2537">
              <a:alpha val="97000"/>
            </a:srgbClr>
          </a:solidFill>
          <a:ln w="12700">
            <a:solidFill>
              <a:srgbClr val="FFB14E"/>
            </a:solidFill>
            <a:prstDash val="solid"/>
          </a:ln>
        </p:spPr>
        <p:txBody>
          <a:bodyPr/>
          <a:lstStyle/>
          <a:p>
            <a:endParaRPr lang="de-AT"/>
          </a:p>
        </p:txBody>
      </p:sp>
      <p:sp>
        <p:nvSpPr>
          <p:cNvPr id="21" name="Shape 17"/>
          <p:cNvSpPr/>
          <p:nvPr/>
        </p:nvSpPr>
        <p:spPr>
          <a:xfrm>
            <a:off x="3218688" y="2798064"/>
            <a:ext cx="530352" cy="530352"/>
          </a:xfrm>
          <a:prstGeom prst="ellipse">
            <a:avLst/>
          </a:prstGeom>
          <a:solidFill>
            <a:srgbClr val="FFB14E"/>
          </a:solidFill>
          <a:ln w="12700">
            <a:solidFill>
              <a:srgbClr val="FFB14E">
                <a:alpha val="0"/>
              </a:srgbClr>
            </a:solidFill>
            <a:prstDash val="solid"/>
          </a:ln>
        </p:spPr>
        <p:txBody>
          <a:bodyPr/>
          <a:lstStyle/>
          <a:p>
            <a:endParaRPr lang="de-AT"/>
          </a:p>
        </p:txBody>
      </p:sp>
      <p:sp>
        <p:nvSpPr>
          <p:cNvPr id="22" name="Text 18"/>
          <p:cNvSpPr/>
          <p:nvPr/>
        </p:nvSpPr>
        <p:spPr>
          <a:xfrm>
            <a:off x="3218688" y="2907792"/>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3</a:t>
            </a:r>
            <a:endParaRPr lang="en-US" sz="1200" dirty="0"/>
          </a:p>
        </p:txBody>
      </p:sp>
      <p:sp>
        <p:nvSpPr>
          <p:cNvPr id="23" name="Text 19"/>
          <p:cNvSpPr/>
          <p:nvPr/>
        </p:nvSpPr>
        <p:spPr>
          <a:xfrm>
            <a:off x="3858768" y="2770632"/>
            <a:ext cx="2377440" cy="228600"/>
          </a:xfrm>
          <a:prstGeom prst="rect">
            <a:avLst/>
          </a:prstGeom>
          <a:noFill/>
          <a:ln/>
        </p:spPr>
        <p:txBody>
          <a:bodyPr wrap="square" lIns="0" tIns="0" rIns="0" bIns="0" rtlCol="0" anchor="ctr"/>
          <a:lstStyle/>
          <a:p>
            <a:pPr marL="0" indent="0">
              <a:buNone/>
            </a:pPr>
            <a:r>
              <a:rPr lang="en-US" sz="1500" b="1" dirty="0">
                <a:solidFill>
                  <a:srgbClr val="F4F8FF"/>
                </a:solidFill>
              </a:rPr>
              <a:t>Flug</a:t>
            </a:r>
            <a:endParaRPr lang="en-US" sz="1500" dirty="0"/>
          </a:p>
        </p:txBody>
      </p:sp>
      <p:sp>
        <p:nvSpPr>
          <p:cNvPr id="24" name="Text 20"/>
          <p:cNvSpPr/>
          <p:nvPr/>
        </p:nvSpPr>
        <p:spPr>
          <a:xfrm>
            <a:off x="3858768" y="3081528"/>
            <a:ext cx="2377440" cy="256032"/>
          </a:xfrm>
          <a:prstGeom prst="rect">
            <a:avLst/>
          </a:prstGeom>
          <a:noFill/>
          <a:ln/>
        </p:spPr>
        <p:txBody>
          <a:bodyPr wrap="square" lIns="0" tIns="0" rIns="0" bIns="0" rtlCol="0" anchor="ctr">
            <a:normAutofit/>
          </a:bodyPr>
          <a:lstStyle/>
          <a:p>
            <a:pPr marL="0" indent="0">
              <a:buNone/>
            </a:pPr>
            <a:r>
              <a:rPr lang="de-AT" sz="1020" noProof="0" dirty="0">
                <a:solidFill>
                  <a:srgbClr val="B9C9D8"/>
                </a:solidFill>
              </a:rPr>
              <a:t>Konstant steigende Geschwindigkeit</a:t>
            </a:r>
            <a:endParaRPr lang="de-AT" sz="1020" noProof="0" dirty="0"/>
          </a:p>
        </p:txBody>
      </p:sp>
      <p:sp>
        <p:nvSpPr>
          <p:cNvPr id="26" name="Shape 22"/>
          <p:cNvSpPr/>
          <p:nvPr/>
        </p:nvSpPr>
        <p:spPr>
          <a:xfrm>
            <a:off x="6766560" y="2642616"/>
            <a:ext cx="3246120" cy="868680"/>
          </a:xfrm>
          <a:prstGeom prst="roundRect">
            <a:avLst>
              <a:gd name="adj" fmla="val 11579"/>
            </a:avLst>
          </a:prstGeom>
          <a:solidFill>
            <a:srgbClr val="0E2537">
              <a:alpha val="97000"/>
            </a:srgbClr>
          </a:solidFill>
          <a:ln w="12700">
            <a:solidFill>
              <a:srgbClr val="6DF7D4"/>
            </a:solidFill>
            <a:prstDash val="solid"/>
          </a:ln>
        </p:spPr>
        <p:txBody>
          <a:bodyPr/>
          <a:lstStyle/>
          <a:p>
            <a:endParaRPr lang="de-AT"/>
          </a:p>
        </p:txBody>
      </p:sp>
      <p:sp>
        <p:nvSpPr>
          <p:cNvPr id="27" name="Shape 23"/>
          <p:cNvSpPr/>
          <p:nvPr/>
        </p:nvSpPr>
        <p:spPr>
          <a:xfrm>
            <a:off x="6876288" y="2798064"/>
            <a:ext cx="530352" cy="530352"/>
          </a:xfrm>
          <a:prstGeom prst="ellipse">
            <a:avLst/>
          </a:prstGeom>
          <a:solidFill>
            <a:srgbClr val="6DF7D4"/>
          </a:solidFill>
          <a:ln w="12700">
            <a:solidFill>
              <a:srgbClr val="6DF7D4">
                <a:alpha val="0"/>
              </a:srgbClr>
            </a:solidFill>
            <a:prstDash val="solid"/>
          </a:ln>
        </p:spPr>
        <p:txBody>
          <a:bodyPr/>
          <a:lstStyle/>
          <a:p>
            <a:endParaRPr lang="de-AT"/>
          </a:p>
        </p:txBody>
      </p:sp>
      <p:sp>
        <p:nvSpPr>
          <p:cNvPr id="28" name="Text 24"/>
          <p:cNvSpPr/>
          <p:nvPr/>
        </p:nvSpPr>
        <p:spPr>
          <a:xfrm>
            <a:off x="6876288" y="2907792"/>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4</a:t>
            </a:r>
            <a:endParaRPr lang="en-US" sz="1200" dirty="0"/>
          </a:p>
        </p:txBody>
      </p:sp>
      <p:sp>
        <p:nvSpPr>
          <p:cNvPr id="29" name="Text 25"/>
          <p:cNvSpPr/>
          <p:nvPr/>
        </p:nvSpPr>
        <p:spPr>
          <a:xfrm>
            <a:off x="7516368" y="2770632"/>
            <a:ext cx="2377440" cy="228600"/>
          </a:xfrm>
          <a:prstGeom prst="rect">
            <a:avLst/>
          </a:prstGeom>
          <a:noFill/>
          <a:ln/>
        </p:spPr>
        <p:txBody>
          <a:bodyPr wrap="square" lIns="0" tIns="0" rIns="0" bIns="0" rtlCol="0" anchor="ctr"/>
          <a:lstStyle/>
          <a:p>
            <a:pPr marL="0" indent="0">
              <a:buNone/>
            </a:pPr>
            <a:r>
              <a:rPr lang="en-US" sz="1500" b="1" dirty="0">
                <a:solidFill>
                  <a:srgbClr val="F4F8FF"/>
                </a:solidFill>
              </a:rPr>
              <a:t>Jump</a:t>
            </a:r>
            <a:endParaRPr lang="en-US" sz="1500" dirty="0"/>
          </a:p>
        </p:txBody>
      </p:sp>
      <p:sp>
        <p:nvSpPr>
          <p:cNvPr id="30" name="Text 26"/>
          <p:cNvSpPr/>
          <p:nvPr/>
        </p:nvSpPr>
        <p:spPr>
          <a:xfrm>
            <a:off x="7516368" y="3081528"/>
            <a:ext cx="237744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vertikale Kontrolle durch Input</a:t>
            </a:r>
            <a:endParaRPr lang="en-US" sz="1020" dirty="0"/>
          </a:p>
        </p:txBody>
      </p:sp>
      <p:sp>
        <p:nvSpPr>
          <p:cNvPr id="34" name="Text 30"/>
          <p:cNvSpPr/>
          <p:nvPr/>
        </p:nvSpPr>
        <p:spPr>
          <a:xfrm>
            <a:off x="4937760" y="4123944"/>
            <a:ext cx="530352" cy="182880"/>
          </a:xfrm>
          <a:prstGeom prst="rect">
            <a:avLst/>
          </a:prstGeom>
          <a:noFill/>
          <a:ln/>
        </p:spPr>
        <p:txBody>
          <a:bodyPr wrap="square" lIns="0" tIns="0" rIns="0" bIns="0" rtlCol="0" anchor="ctr"/>
          <a:lstStyle/>
          <a:p>
            <a:pPr marL="0" indent="0" algn="ctr">
              <a:buNone/>
            </a:pPr>
            <a:endParaRPr lang="en-US" sz="1200" dirty="0"/>
          </a:p>
        </p:txBody>
      </p:sp>
      <p:sp>
        <p:nvSpPr>
          <p:cNvPr id="35" name="Text 31"/>
          <p:cNvSpPr/>
          <p:nvPr/>
        </p:nvSpPr>
        <p:spPr>
          <a:xfrm>
            <a:off x="7536028" y="1552366"/>
            <a:ext cx="2377440" cy="228600"/>
          </a:xfrm>
          <a:prstGeom prst="rect">
            <a:avLst/>
          </a:prstGeom>
          <a:noFill/>
          <a:ln/>
        </p:spPr>
        <p:txBody>
          <a:bodyPr wrap="square" lIns="0" tIns="0" rIns="0" bIns="0" rtlCol="0" anchor="ctr"/>
          <a:lstStyle/>
          <a:p>
            <a:pPr marL="0" indent="0">
              <a:buNone/>
            </a:pPr>
            <a:r>
              <a:rPr lang="en-US" sz="1500" b="1" dirty="0">
                <a:solidFill>
                  <a:srgbClr val="F4F8FF"/>
                </a:solidFill>
              </a:rPr>
              <a:t>Timer</a:t>
            </a:r>
            <a:endParaRPr lang="en-US" sz="1500" dirty="0"/>
          </a:p>
        </p:txBody>
      </p:sp>
      <p:sp>
        <p:nvSpPr>
          <p:cNvPr id="36" name="Text 32"/>
          <p:cNvSpPr/>
          <p:nvPr/>
        </p:nvSpPr>
        <p:spPr>
          <a:xfrm>
            <a:off x="7516368" y="1864697"/>
            <a:ext cx="237744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Überlebenszeit steigt</a:t>
            </a:r>
            <a:endParaRPr lang="en-US" sz="1020" dirty="0"/>
          </a:p>
        </p:txBody>
      </p:sp>
      <p:sp>
        <p:nvSpPr>
          <p:cNvPr id="39" name="Text 35"/>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40" name="Text 36"/>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2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Der Generation Loop</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Drei Ebenen arbeiten während der Laufzeit zusammen</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3611880" y="2993628"/>
            <a:ext cx="850392" cy="0"/>
          </a:xfrm>
          <a:prstGeom prst="line">
            <a:avLst/>
          </a:prstGeom>
          <a:noFill/>
          <a:ln w="12700">
            <a:solidFill>
              <a:srgbClr val="3DDCFF"/>
            </a:solidFill>
            <a:prstDash val="solid"/>
            <a:headEnd type="none"/>
            <a:tailEnd type="triangle"/>
          </a:ln>
        </p:spPr>
        <p:txBody>
          <a:bodyPr/>
          <a:lstStyle/>
          <a:p>
            <a:endParaRPr lang="de-AT" dirty="0"/>
          </a:p>
        </p:txBody>
      </p:sp>
      <p:sp>
        <p:nvSpPr>
          <p:cNvPr id="8" name="Shape 5"/>
          <p:cNvSpPr/>
          <p:nvPr/>
        </p:nvSpPr>
        <p:spPr>
          <a:xfrm>
            <a:off x="7589520" y="2993628"/>
            <a:ext cx="777240" cy="0"/>
          </a:xfrm>
          <a:prstGeom prst="line">
            <a:avLst/>
          </a:prstGeom>
          <a:noFill/>
          <a:ln w="12700">
            <a:solidFill>
              <a:srgbClr val="50E3A4"/>
            </a:solidFill>
            <a:prstDash val="solid"/>
            <a:headEnd type="none"/>
            <a:tailEnd type="triangle"/>
          </a:ln>
        </p:spPr>
        <p:txBody>
          <a:bodyPr/>
          <a:lstStyle/>
          <a:p>
            <a:endParaRPr lang="de-AT" dirty="0"/>
          </a:p>
        </p:txBody>
      </p:sp>
      <p:sp>
        <p:nvSpPr>
          <p:cNvPr id="10" name="Shape 7"/>
          <p:cNvSpPr/>
          <p:nvPr/>
        </p:nvSpPr>
        <p:spPr>
          <a:xfrm>
            <a:off x="822960" y="2514600"/>
            <a:ext cx="2743200" cy="868680"/>
          </a:xfrm>
          <a:prstGeom prst="roundRect">
            <a:avLst>
              <a:gd name="adj" fmla="val 11579"/>
            </a:avLst>
          </a:prstGeom>
          <a:solidFill>
            <a:srgbClr val="0E2537">
              <a:alpha val="97000"/>
            </a:srgbClr>
          </a:solidFill>
          <a:ln w="12700">
            <a:solidFill>
              <a:srgbClr val="3DDCFF"/>
            </a:solidFill>
            <a:prstDash val="solid"/>
          </a:ln>
        </p:spPr>
        <p:txBody>
          <a:bodyPr/>
          <a:lstStyle/>
          <a:p>
            <a:endParaRPr lang="de-AT"/>
          </a:p>
        </p:txBody>
      </p:sp>
      <p:sp>
        <p:nvSpPr>
          <p:cNvPr id="11" name="Shape 8"/>
          <p:cNvSpPr/>
          <p:nvPr/>
        </p:nvSpPr>
        <p:spPr>
          <a:xfrm>
            <a:off x="932688" y="2670048"/>
            <a:ext cx="530352" cy="530352"/>
          </a:xfrm>
          <a:prstGeom prst="ellipse">
            <a:avLst/>
          </a:prstGeom>
          <a:solidFill>
            <a:srgbClr val="3DDCFF"/>
          </a:solidFill>
          <a:ln w="12700">
            <a:solidFill>
              <a:srgbClr val="3DDCFF">
                <a:alpha val="0"/>
              </a:srgbClr>
            </a:solidFill>
            <a:prstDash val="solid"/>
          </a:ln>
        </p:spPr>
        <p:txBody>
          <a:bodyPr/>
          <a:lstStyle/>
          <a:p>
            <a:endParaRPr lang="de-AT" dirty="0"/>
          </a:p>
        </p:txBody>
      </p:sp>
      <p:sp>
        <p:nvSpPr>
          <p:cNvPr id="12" name="Text 9"/>
          <p:cNvSpPr/>
          <p:nvPr/>
        </p:nvSpPr>
        <p:spPr>
          <a:xfrm>
            <a:off x="932688" y="2837198"/>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A</a:t>
            </a:r>
            <a:endParaRPr lang="en-US" sz="1200" dirty="0"/>
          </a:p>
        </p:txBody>
      </p:sp>
      <p:sp>
        <p:nvSpPr>
          <p:cNvPr id="13" name="Text 10"/>
          <p:cNvSpPr/>
          <p:nvPr/>
        </p:nvSpPr>
        <p:spPr>
          <a:xfrm>
            <a:off x="1572768" y="2642616"/>
            <a:ext cx="1874520" cy="228600"/>
          </a:xfrm>
          <a:prstGeom prst="rect">
            <a:avLst/>
          </a:prstGeom>
          <a:noFill/>
          <a:ln/>
        </p:spPr>
        <p:txBody>
          <a:bodyPr wrap="square" lIns="0" tIns="0" rIns="0" bIns="0" rtlCol="0" anchor="ctr"/>
          <a:lstStyle/>
          <a:p>
            <a:pPr marL="0" indent="0">
              <a:buNone/>
            </a:pPr>
            <a:r>
              <a:rPr lang="en-US" sz="1500" b="1" dirty="0">
                <a:solidFill>
                  <a:srgbClr val="F4F8FF"/>
                </a:solidFill>
              </a:rPr>
              <a:t>Inference</a:t>
            </a:r>
            <a:endParaRPr lang="en-US" sz="1500" dirty="0"/>
          </a:p>
        </p:txBody>
      </p:sp>
      <p:sp>
        <p:nvSpPr>
          <p:cNvPr id="14" name="Text 11"/>
          <p:cNvSpPr/>
          <p:nvPr/>
        </p:nvSpPr>
        <p:spPr>
          <a:xfrm>
            <a:off x="1572768" y="2953512"/>
            <a:ext cx="1874520" cy="256032"/>
          </a:xfrm>
          <a:prstGeom prst="rect">
            <a:avLst/>
          </a:prstGeom>
          <a:noFill/>
          <a:ln/>
        </p:spPr>
        <p:txBody>
          <a:bodyPr wrap="square" lIns="0" tIns="0" rIns="0" bIns="0" rtlCol="0" anchor="ctr">
            <a:normAutofit fontScale="92500" lnSpcReduction="10000"/>
          </a:bodyPr>
          <a:lstStyle/>
          <a:p>
            <a:pPr marL="0" indent="0">
              <a:buNone/>
            </a:pPr>
            <a:r>
              <a:rPr lang="en-US" sz="1020" dirty="0">
                <a:solidFill>
                  <a:srgbClr val="B9C9D8"/>
                </a:solidFill>
              </a:rPr>
              <a:t>SentisObstacleGenerator erzeugt Parameter</a:t>
            </a:r>
            <a:endParaRPr lang="en-US" sz="1020" dirty="0"/>
          </a:p>
        </p:txBody>
      </p:sp>
      <p:sp>
        <p:nvSpPr>
          <p:cNvPr id="15" name="Shape 12"/>
          <p:cNvSpPr/>
          <p:nvPr/>
        </p:nvSpPr>
        <p:spPr>
          <a:xfrm>
            <a:off x="4526280" y="2514600"/>
            <a:ext cx="2971800" cy="868680"/>
          </a:xfrm>
          <a:prstGeom prst="roundRect">
            <a:avLst>
              <a:gd name="adj" fmla="val 11579"/>
            </a:avLst>
          </a:prstGeom>
          <a:solidFill>
            <a:srgbClr val="0E2537">
              <a:alpha val="97000"/>
            </a:srgbClr>
          </a:solidFill>
          <a:ln w="12700">
            <a:solidFill>
              <a:srgbClr val="50E3A4"/>
            </a:solidFill>
            <a:prstDash val="solid"/>
          </a:ln>
        </p:spPr>
        <p:txBody>
          <a:bodyPr/>
          <a:lstStyle/>
          <a:p>
            <a:endParaRPr lang="de-AT"/>
          </a:p>
        </p:txBody>
      </p:sp>
      <p:sp>
        <p:nvSpPr>
          <p:cNvPr id="16" name="Shape 13"/>
          <p:cNvSpPr/>
          <p:nvPr/>
        </p:nvSpPr>
        <p:spPr>
          <a:xfrm>
            <a:off x="4636008" y="2670048"/>
            <a:ext cx="530352" cy="530352"/>
          </a:xfrm>
          <a:prstGeom prst="ellipse">
            <a:avLst/>
          </a:prstGeom>
          <a:solidFill>
            <a:srgbClr val="50E3A4"/>
          </a:solidFill>
          <a:ln w="12700">
            <a:solidFill>
              <a:srgbClr val="50E3A4">
                <a:alpha val="0"/>
              </a:srgbClr>
            </a:solidFill>
            <a:prstDash val="solid"/>
          </a:ln>
        </p:spPr>
        <p:txBody>
          <a:bodyPr/>
          <a:lstStyle/>
          <a:p>
            <a:endParaRPr lang="de-AT"/>
          </a:p>
        </p:txBody>
      </p:sp>
      <p:sp>
        <p:nvSpPr>
          <p:cNvPr id="17" name="Text 14"/>
          <p:cNvSpPr/>
          <p:nvPr/>
        </p:nvSpPr>
        <p:spPr>
          <a:xfrm>
            <a:off x="4636008" y="2832577"/>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B</a:t>
            </a:r>
            <a:endParaRPr lang="en-US" sz="1200" dirty="0"/>
          </a:p>
        </p:txBody>
      </p:sp>
      <p:sp>
        <p:nvSpPr>
          <p:cNvPr id="18" name="Text 15"/>
          <p:cNvSpPr/>
          <p:nvPr/>
        </p:nvSpPr>
        <p:spPr>
          <a:xfrm>
            <a:off x="5276088" y="2642616"/>
            <a:ext cx="2103120" cy="228600"/>
          </a:xfrm>
          <a:prstGeom prst="rect">
            <a:avLst/>
          </a:prstGeom>
          <a:noFill/>
          <a:ln/>
        </p:spPr>
        <p:txBody>
          <a:bodyPr wrap="square" lIns="0" tIns="0" rIns="0" bIns="0" rtlCol="0" anchor="ctr"/>
          <a:lstStyle/>
          <a:p>
            <a:pPr marL="0" indent="0">
              <a:buNone/>
            </a:pPr>
            <a:r>
              <a:rPr lang="en-US" sz="1500" b="1" dirty="0">
                <a:solidFill>
                  <a:srgbClr val="F4F8FF"/>
                </a:solidFill>
              </a:rPr>
              <a:t>Validation</a:t>
            </a:r>
            <a:endParaRPr lang="en-US" sz="1500" dirty="0"/>
          </a:p>
        </p:txBody>
      </p:sp>
      <p:sp>
        <p:nvSpPr>
          <p:cNvPr id="19" name="Text 16"/>
          <p:cNvSpPr/>
          <p:nvPr/>
        </p:nvSpPr>
        <p:spPr>
          <a:xfrm>
            <a:off x="5276088" y="2953512"/>
            <a:ext cx="2103120" cy="256032"/>
          </a:xfrm>
          <a:prstGeom prst="rect">
            <a:avLst/>
          </a:prstGeom>
          <a:noFill/>
          <a:ln/>
        </p:spPr>
        <p:txBody>
          <a:bodyPr wrap="square" lIns="0" tIns="0" rIns="0" bIns="0" rtlCol="0" anchor="ctr">
            <a:normAutofit fontScale="92500" lnSpcReduction="10000"/>
          </a:bodyPr>
          <a:lstStyle/>
          <a:p>
            <a:pPr marL="0" indent="0">
              <a:buNone/>
            </a:pPr>
            <a:r>
              <a:rPr lang="en-US" sz="1020" dirty="0">
                <a:solidFill>
                  <a:srgbClr val="B9C9D8"/>
                </a:solidFill>
              </a:rPr>
              <a:t>MLAgentsValidationManager prüft Fairness</a:t>
            </a:r>
            <a:endParaRPr lang="en-US" sz="1020" dirty="0"/>
          </a:p>
        </p:txBody>
      </p:sp>
      <p:sp>
        <p:nvSpPr>
          <p:cNvPr id="20" name="Shape 17"/>
          <p:cNvSpPr/>
          <p:nvPr/>
        </p:nvSpPr>
        <p:spPr>
          <a:xfrm>
            <a:off x="8458200" y="2514600"/>
            <a:ext cx="2971800" cy="868680"/>
          </a:xfrm>
          <a:prstGeom prst="roundRect">
            <a:avLst>
              <a:gd name="adj" fmla="val 11579"/>
            </a:avLst>
          </a:prstGeom>
          <a:solidFill>
            <a:srgbClr val="0E2537">
              <a:alpha val="97000"/>
            </a:srgbClr>
          </a:solidFill>
          <a:ln w="12700">
            <a:solidFill>
              <a:srgbClr val="FFB14E"/>
            </a:solidFill>
            <a:prstDash val="solid"/>
          </a:ln>
        </p:spPr>
        <p:txBody>
          <a:bodyPr/>
          <a:lstStyle/>
          <a:p>
            <a:endParaRPr lang="de-AT"/>
          </a:p>
        </p:txBody>
      </p:sp>
      <p:sp>
        <p:nvSpPr>
          <p:cNvPr id="21" name="Shape 18"/>
          <p:cNvSpPr/>
          <p:nvPr/>
        </p:nvSpPr>
        <p:spPr>
          <a:xfrm>
            <a:off x="8567928" y="2670048"/>
            <a:ext cx="530352" cy="530352"/>
          </a:xfrm>
          <a:prstGeom prst="ellipse">
            <a:avLst/>
          </a:prstGeom>
          <a:solidFill>
            <a:srgbClr val="FFB14E"/>
          </a:solidFill>
          <a:ln w="12700">
            <a:solidFill>
              <a:srgbClr val="FFB14E">
                <a:alpha val="0"/>
              </a:srgbClr>
            </a:solidFill>
            <a:prstDash val="solid"/>
          </a:ln>
        </p:spPr>
        <p:txBody>
          <a:bodyPr/>
          <a:lstStyle/>
          <a:p>
            <a:endParaRPr lang="de-AT"/>
          </a:p>
        </p:txBody>
      </p:sp>
      <p:sp>
        <p:nvSpPr>
          <p:cNvPr id="22" name="Text 19"/>
          <p:cNvSpPr/>
          <p:nvPr/>
        </p:nvSpPr>
        <p:spPr>
          <a:xfrm>
            <a:off x="8558784" y="2857500"/>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C</a:t>
            </a:r>
            <a:endParaRPr lang="en-US" sz="1200" dirty="0"/>
          </a:p>
        </p:txBody>
      </p:sp>
      <p:sp>
        <p:nvSpPr>
          <p:cNvPr id="23" name="Text 20"/>
          <p:cNvSpPr/>
          <p:nvPr/>
        </p:nvSpPr>
        <p:spPr>
          <a:xfrm>
            <a:off x="9208008" y="2642616"/>
            <a:ext cx="2103120" cy="228600"/>
          </a:xfrm>
          <a:prstGeom prst="rect">
            <a:avLst/>
          </a:prstGeom>
          <a:noFill/>
          <a:ln/>
        </p:spPr>
        <p:txBody>
          <a:bodyPr wrap="square" lIns="0" tIns="0" rIns="0" bIns="0" rtlCol="0" anchor="ctr"/>
          <a:lstStyle/>
          <a:p>
            <a:pPr marL="0" indent="0">
              <a:buNone/>
            </a:pPr>
            <a:r>
              <a:rPr lang="en-US" sz="1500" b="1" dirty="0">
                <a:solidFill>
                  <a:srgbClr val="F4F8FF"/>
                </a:solidFill>
              </a:rPr>
              <a:t>Realisierung</a:t>
            </a:r>
            <a:endParaRPr lang="en-US" sz="1500" dirty="0"/>
          </a:p>
        </p:txBody>
      </p:sp>
      <p:sp>
        <p:nvSpPr>
          <p:cNvPr id="24" name="Text 21"/>
          <p:cNvSpPr/>
          <p:nvPr/>
        </p:nvSpPr>
        <p:spPr>
          <a:xfrm>
            <a:off x="9208008" y="2953512"/>
            <a:ext cx="2103120" cy="256032"/>
          </a:xfrm>
          <a:prstGeom prst="rect">
            <a:avLst/>
          </a:prstGeom>
          <a:noFill/>
          <a:ln/>
        </p:spPr>
        <p:txBody>
          <a:bodyPr wrap="square" lIns="0" tIns="0" rIns="0" bIns="0" rtlCol="0" anchor="ctr">
            <a:normAutofit fontScale="92500" lnSpcReduction="10000"/>
          </a:bodyPr>
          <a:lstStyle/>
          <a:p>
            <a:pPr marL="0" indent="0">
              <a:buNone/>
            </a:pPr>
            <a:r>
              <a:rPr lang="en-US" sz="1020" dirty="0">
                <a:solidFill>
                  <a:srgbClr val="B9C9D8"/>
                </a:solidFill>
              </a:rPr>
              <a:t>ProceduralPolygonGenerator baut Mesh und Collider</a:t>
            </a:r>
            <a:endParaRPr lang="en-US" sz="1020" dirty="0"/>
          </a:p>
        </p:txBody>
      </p:sp>
      <p:sp>
        <p:nvSpPr>
          <p:cNvPr id="25" name="Text 22"/>
          <p:cNvSpPr/>
          <p:nvPr/>
        </p:nvSpPr>
        <p:spPr>
          <a:xfrm>
            <a:off x="1417320" y="3703320"/>
            <a:ext cx="1463040" cy="256032"/>
          </a:xfrm>
          <a:prstGeom prst="rect">
            <a:avLst/>
          </a:prstGeom>
          <a:noFill/>
          <a:ln/>
        </p:spPr>
        <p:txBody>
          <a:bodyPr wrap="square" lIns="0" tIns="0" rIns="0" bIns="0" rtlCol="0" anchor="ctr"/>
          <a:lstStyle/>
          <a:p>
            <a:pPr marL="0" indent="0" algn="ctr">
              <a:buNone/>
            </a:pPr>
            <a:r>
              <a:rPr lang="en-US" sz="1300" b="1" dirty="0">
                <a:solidFill>
                  <a:srgbClr val="3DDCFF"/>
                </a:solidFill>
              </a:rPr>
              <a:t>Generator</a:t>
            </a:r>
            <a:endParaRPr lang="en-US" sz="1300" dirty="0"/>
          </a:p>
        </p:txBody>
      </p:sp>
      <p:sp>
        <p:nvSpPr>
          <p:cNvPr id="26" name="Text 23"/>
          <p:cNvSpPr/>
          <p:nvPr/>
        </p:nvSpPr>
        <p:spPr>
          <a:xfrm>
            <a:off x="5303520" y="3703320"/>
            <a:ext cx="1463040" cy="256032"/>
          </a:xfrm>
          <a:prstGeom prst="rect">
            <a:avLst/>
          </a:prstGeom>
          <a:noFill/>
          <a:ln/>
        </p:spPr>
        <p:txBody>
          <a:bodyPr wrap="square" lIns="0" tIns="0" rIns="0" bIns="0" rtlCol="0" anchor="ctr"/>
          <a:lstStyle/>
          <a:p>
            <a:pPr marL="0" indent="0" algn="ctr">
              <a:buNone/>
            </a:pPr>
            <a:r>
              <a:rPr lang="en-US" sz="1300" b="1" dirty="0">
                <a:solidFill>
                  <a:srgbClr val="50E3A4"/>
                </a:solidFill>
              </a:rPr>
              <a:t>Validator</a:t>
            </a:r>
            <a:endParaRPr lang="en-US" sz="1300" dirty="0"/>
          </a:p>
        </p:txBody>
      </p:sp>
      <p:sp>
        <p:nvSpPr>
          <p:cNvPr id="27" name="Text 24"/>
          <p:cNvSpPr/>
          <p:nvPr/>
        </p:nvSpPr>
        <p:spPr>
          <a:xfrm>
            <a:off x="9235440" y="3703320"/>
            <a:ext cx="1463040" cy="256032"/>
          </a:xfrm>
          <a:prstGeom prst="rect">
            <a:avLst/>
          </a:prstGeom>
          <a:noFill/>
          <a:ln/>
        </p:spPr>
        <p:txBody>
          <a:bodyPr wrap="square" lIns="0" tIns="0" rIns="0" bIns="0" rtlCol="0" anchor="ctr"/>
          <a:lstStyle/>
          <a:p>
            <a:pPr marL="0" indent="0" algn="ctr">
              <a:buNone/>
            </a:pPr>
            <a:r>
              <a:rPr lang="en-US" sz="1300" b="1" dirty="0">
                <a:solidFill>
                  <a:srgbClr val="FFB14E"/>
                </a:solidFill>
              </a:rPr>
              <a:t>Spawner</a:t>
            </a:r>
            <a:endParaRPr lang="en-US" sz="1300" dirty="0"/>
          </a:p>
        </p:txBody>
      </p:sp>
      <p:sp>
        <p:nvSpPr>
          <p:cNvPr id="30" name="Text 27"/>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31" name="Text 28"/>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2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Generator, was kommt hinein, was kommt heraus?</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Unity Sentis beziehungsweise Inference Engine führt ein ONNX Modell lokal aus</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868680" y="1417320"/>
            <a:ext cx="2926080" cy="1783080"/>
          </a:xfrm>
          <a:prstGeom prst="roundRect">
            <a:avLst>
              <a:gd name="adj" fmla="val 4103"/>
            </a:avLst>
          </a:prstGeom>
          <a:solidFill>
            <a:srgbClr val="020A12">
              <a:alpha val="98000"/>
            </a:srgbClr>
          </a:solidFill>
          <a:ln w="12700">
            <a:solidFill>
              <a:srgbClr val="2D607F"/>
            </a:solidFill>
            <a:prstDash val="solid"/>
          </a:ln>
        </p:spPr>
        <p:txBody>
          <a:bodyPr/>
          <a:lstStyle/>
          <a:p>
            <a:endParaRPr lang="de-AT"/>
          </a:p>
        </p:txBody>
      </p:sp>
      <p:sp>
        <p:nvSpPr>
          <p:cNvPr id="8" name="Text 5"/>
          <p:cNvSpPr/>
          <p:nvPr/>
        </p:nvSpPr>
        <p:spPr>
          <a:xfrm>
            <a:off x="1005840" y="1517904"/>
            <a:ext cx="2651760" cy="201168"/>
          </a:xfrm>
          <a:prstGeom prst="rect">
            <a:avLst/>
          </a:prstGeom>
          <a:noFill/>
          <a:ln/>
        </p:spPr>
        <p:txBody>
          <a:bodyPr wrap="square" lIns="0" tIns="0" rIns="0" bIns="0" rtlCol="0" anchor="ctr"/>
          <a:lstStyle/>
          <a:p>
            <a:pPr marL="0" indent="0">
              <a:buNone/>
            </a:pPr>
            <a:r>
              <a:rPr lang="en-US" sz="900" b="1" dirty="0">
                <a:solidFill>
                  <a:srgbClr val="6DF7D4"/>
                </a:solidFill>
              </a:rPr>
              <a:t>Eingabe aus GameState</a:t>
            </a:r>
            <a:endParaRPr lang="en-US" sz="900" dirty="0"/>
          </a:p>
        </p:txBody>
      </p:sp>
      <p:sp>
        <p:nvSpPr>
          <p:cNvPr id="9" name="Text 6"/>
          <p:cNvSpPr/>
          <p:nvPr/>
        </p:nvSpPr>
        <p:spPr>
          <a:xfrm>
            <a:off x="1014984" y="1801368"/>
            <a:ext cx="2633472" cy="128016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Input Tensor [1 x 2]</a:t>
            </a:r>
            <a:endParaRPr lang="en-US" sz="930" dirty="0"/>
          </a:p>
          <a:p>
            <a:pPr marL="0" indent="0">
              <a:buNone/>
            </a:pP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currentSpeed</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difficultyMetric</a:t>
            </a:r>
            <a:endParaRPr lang="en-US" sz="930" dirty="0"/>
          </a:p>
        </p:txBody>
      </p:sp>
      <p:sp>
        <p:nvSpPr>
          <p:cNvPr id="10" name="Shape 7"/>
          <p:cNvSpPr/>
          <p:nvPr/>
        </p:nvSpPr>
        <p:spPr>
          <a:xfrm>
            <a:off x="3977640" y="2304288"/>
            <a:ext cx="822960" cy="0"/>
          </a:xfrm>
          <a:prstGeom prst="line">
            <a:avLst/>
          </a:prstGeom>
          <a:noFill/>
          <a:ln w="12700">
            <a:solidFill>
              <a:srgbClr val="3DDCFF"/>
            </a:solidFill>
            <a:prstDash val="solid"/>
            <a:headEnd type="none"/>
            <a:tailEnd type="triangle"/>
          </a:ln>
        </p:spPr>
        <p:txBody>
          <a:bodyPr/>
          <a:lstStyle/>
          <a:p>
            <a:endParaRPr lang="de-AT"/>
          </a:p>
        </p:txBody>
      </p:sp>
      <p:sp>
        <p:nvSpPr>
          <p:cNvPr id="11" name="Shape 8"/>
          <p:cNvSpPr/>
          <p:nvPr/>
        </p:nvSpPr>
        <p:spPr>
          <a:xfrm>
            <a:off x="4892040" y="1417320"/>
            <a:ext cx="2423160" cy="1783080"/>
          </a:xfrm>
          <a:prstGeom prst="hexagon">
            <a:avLst/>
          </a:prstGeom>
          <a:solidFill>
            <a:srgbClr val="0C2940">
              <a:alpha val="96000"/>
            </a:srgbClr>
          </a:solidFill>
          <a:ln w="12700">
            <a:solidFill>
              <a:srgbClr val="3DDCFF"/>
            </a:solidFill>
            <a:prstDash val="solid"/>
          </a:ln>
        </p:spPr>
        <p:txBody>
          <a:bodyPr/>
          <a:lstStyle/>
          <a:p>
            <a:endParaRPr lang="de-AT"/>
          </a:p>
        </p:txBody>
      </p:sp>
      <p:sp>
        <p:nvSpPr>
          <p:cNvPr id="12" name="Text 9"/>
          <p:cNvSpPr/>
          <p:nvPr/>
        </p:nvSpPr>
        <p:spPr>
          <a:xfrm>
            <a:off x="5276088" y="1856232"/>
            <a:ext cx="1645920" cy="502920"/>
          </a:xfrm>
          <a:prstGeom prst="rect">
            <a:avLst/>
          </a:prstGeom>
          <a:noFill/>
          <a:ln/>
        </p:spPr>
        <p:txBody>
          <a:bodyPr wrap="square" lIns="0" tIns="0" rIns="0" bIns="0" rtlCol="0" anchor="ctr"/>
          <a:lstStyle/>
          <a:p>
            <a:pPr marL="0" indent="0" algn="ctr">
              <a:buNone/>
            </a:pPr>
            <a:r>
              <a:rPr lang="en-US" sz="2400" b="1" dirty="0">
                <a:solidFill>
                  <a:srgbClr val="F4F8FF"/>
                </a:solidFill>
              </a:rPr>
              <a:t>ONNX</a:t>
            </a:r>
            <a:endParaRPr lang="en-US" sz="2400" dirty="0"/>
          </a:p>
          <a:p>
            <a:pPr marL="0" indent="0" algn="ctr">
              <a:buNone/>
            </a:pPr>
            <a:r>
              <a:rPr lang="en-US" sz="2400" b="1" dirty="0">
                <a:solidFill>
                  <a:srgbClr val="F4F8FF"/>
                </a:solidFill>
              </a:rPr>
              <a:t>Modell</a:t>
            </a:r>
            <a:endParaRPr lang="en-US" sz="2400" dirty="0"/>
          </a:p>
        </p:txBody>
      </p:sp>
      <p:sp>
        <p:nvSpPr>
          <p:cNvPr id="13" name="Text 10"/>
          <p:cNvSpPr/>
          <p:nvPr/>
        </p:nvSpPr>
        <p:spPr>
          <a:xfrm>
            <a:off x="5120640" y="2505456"/>
            <a:ext cx="1965960" cy="228600"/>
          </a:xfrm>
          <a:prstGeom prst="rect">
            <a:avLst/>
          </a:prstGeom>
          <a:noFill/>
          <a:ln/>
        </p:spPr>
        <p:txBody>
          <a:bodyPr wrap="square" lIns="0" tIns="0" rIns="0" bIns="0" rtlCol="0" anchor="ctr"/>
          <a:lstStyle/>
          <a:p>
            <a:pPr marL="0" indent="0" algn="ctr">
              <a:buNone/>
            </a:pPr>
            <a:r>
              <a:rPr lang="en-US" sz="1050" dirty="0">
                <a:solidFill>
                  <a:srgbClr val="B9C9D8"/>
                </a:solidFill>
              </a:rPr>
              <a:t>Worker auf GPU Compute</a:t>
            </a:r>
            <a:endParaRPr lang="en-US" sz="1050" dirty="0"/>
          </a:p>
        </p:txBody>
      </p:sp>
      <p:sp>
        <p:nvSpPr>
          <p:cNvPr id="14" name="Shape 11"/>
          <p:cNvSpPr/>
          <p:nvPr/>
        </p:nvSpPr>
        <p:spPr>
          <a:xfrm>
            <a:off x="7452360" y="2304288"/>
            <a:ext cx="822960" cy="0"/>
          </a:xfrm>
          <a:prstGeom prst="line">
            <a:avLst/>
          </a:prstGeom>
          <a:noFill/>
          <a:ln w="12700">
            <a:solidFill>
              <a:srgbClr val="3DDCFF"/>
            </a:solidFill>
            <a:prstDash val="solid"/>
            <a:headEnd type="none"/>
            <a:tailEnd type="triangle"/>
          </a:ln>
        </p:spPr>
        <p:txBody>
          <a:bodyPr/>
          <a:lstStyle/>
          <a:p>
            <a:endParaRPr lang="de-AT"/>
          </a:p>
        </p:txBody>
      </p:sp>
      <p:sp>
        <p:nvSpPr>
          <p:cNvPr id="15" name="Shape 12"/>
          <p:cNvSpPr/>
          <p:nvPr/>
        </p:nvSpPr>
        <p:spPr>
          <a:xfrm>
            <a:off x="8412480" y="1417320"/>
            <a:ext cx="2926080" cy="1783080"/>
          </a:xfrm>
          <a:prstGeom prst="roundRect">
            <a:avLst>
              <a:gd name="adj" fmla="val 4103"/>
            </a:avLst>
          </a:prstGeom>
          <a:solidFill>
            <a:srgbClr val="020A12">
              <a:alpha val="98000"/>
            </a:srgbClr>
          </a:solidFill>
          <a:ln w="12700">
            <a:solidFill>
              <a:srgbClr val="2D607F"/>
            </a:solidFill>
            <a:prstDash val="solid"/>
          </a:ln>
        </p:spPr>
        <p:txBody>
          <a:bodyPr/>
          <a:lstStyle/>
          <a:p>
            <a:endParaRPr lang="de-AT"/>
          </a:p>
        </p:txBody>
      </p:sp>
      <p:sp>
        <p:nvSpPr>
          <p:cNvPr id="16" name="Text 13"/>
          <p:cNvSpPr/>
          <p:nvPr/>
        </p:nvSpPr>
        <p:spPr>
          <a:xfrm>
            <a:off x="8549640" y="1517904"/>
            <a:ext cx="2651760" cy="201168"/>
          </a:xfrm>
          <a:prstGeom prst="rect">
            <a:avLst/>
          </a:prstGeom>
          <a:noFill/>
          <a:ln/>
        </p:spPr>
        <p:txBody>
          <a:bodyPr wrap="square" lIns="0" tIns="0" rIns="0" bIns="0" rtlCol="0" anchor="ctr"/>
          <a:lstStyle/>
          <a:p>
            <a:pPr marL="0" indent="0">
              <a:buNone/>
            </a:pPr>
            <a:r>
              <a:rPr lang="en-US" sz="900" b="1" dirty="0">
                <a:solidFill>
                  <a:srgbClr val="6DF7D4"/>
                </a:solidFill>
              </a:rPr>
              <a:t>Ausgabe als ObstacleParameters</a:t>
            </a:r>
            <a:endParaRPr lang="en-US" sz="900" dirty="0"/>
          </a:p>
        </p:txBody>
      </p:sp>
      <p:sp>
        <p:nvSpPr>
          <p:cNvPr id="17" name="Text 14"/>
          <p:cNvSpPr/>
          <p:nvPr/>
        </p:nvSpPr>
        <p:spPr>
          <a:xfrm>
            <a:off x="8558784" y="1801368"/>
            <a:ext cx="2633472" cy="128016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Output Tensor [1 x 4]</a:t>
            </a:r>
            <a:endParaRPr lang="en-US" sz="930" dirty="0"/>
          </a:p>
          <a:p>
            <a:pPr marL="0" indent="0">
              <a:buNone/>
            </a:pP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width</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height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distanceToNext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yPosition</a:t>
            </a:r>
            <a:endParaRPr lang="en-US" sz="930" dirty="0"/>
          </a:p>
        </p:txBody>
      </p:sp>
      <p:sp>
        <p:nvSpPr>
          <p:cNvPr id="18" name="Shape 15"/>
          <p:cNvSpPr/>
          <p:nvPr/>
        </p:nvSpPr>
        <p:spPr>
          <a:xfrm>
            <a:off x="960120" y="4114800"/>
            <a:ext cx="4983480" cy="960120"/>
          </a:xfrm>
          <a:prstGeom prst="roundRect">
            <a:avLst>
              <a:gd name="adj" fmla="val 9524"/>
            </a:avLst>
          </a:prstGeom>
          <a:solidFill>
            <a:srgbClr val="061827">
              <a:alpha val="92000"/>
            </a:srgbClr>
          </a:solidFill>
          <a:ln w="12700">
            <a:solidFill>
              <a:srgbClr val="6DF7D4"/>
            </a:solidFill>
            <a:prstDash val="solid"/>
          </a:ln>
        </p:spPr>
        <p:txBody>
          <a:bodyPr/>
          <a:lstStyle/>
          <a:p>
            <a:endParaRPr lang="de-AT"/>
          </a:p>
        </p:txBody>
      </p:sp>
      <p:sp>
        <p:nvSpPr>
          <p:cNvPr id="19" name="Text 16"/>
          <p:cNvSpPr/>
          <p:nvPr/>
        </p:nvSpPr>
        <p:spPr>
          <a:xfrm>
            <a:off x="1088136" y="4224528"/>
            <a:ext cx="4727448" cy="740664"/>
          </a:xfrm>
          <a:prstGeom prst="rect">
            <a:avLst/>
          </a:prstGeom>
          <a:noFill/>
          <a:ln/>
        </p:spPr>
        <p:txBody>
          <a:bodyPr wrap="square" lIns="254" tIns="254" rIns="254" bIns="254" rtlCol="0" anchor="ctr">
            <a:normAutofit/>
          </a:bodyPr>
          <a:lstStyle/>
          <a:p>
            <a:pPr marL="0" indent="0">
              <a:buNone/>
            </a:pPr>
            <a:r>
              <a:rPr lang="en-US" sz="1400" dirty="0">
                <a:solidFill>
                  <a:srgbClr val="F4F8FF"/>
                </a:solidFill>
              </a:rPr>
              <a:t>Die KI gibt keine fertigen Levelstücke aus. Sie erzeugt kontinuierliche Zahlen, die später durch Clamping in sichere Bereiche gebracht werden.</a:t>
            </a:r>
            <a:endParaRPr lang="en-US" sz="1400" dirty="0"/>
          </a:p>
        </p:txBody>
      </p:sp>
      <p:sp>
        <p:nvSpPr>
          <p:cNvPr id="20" name="Shape 17"/>
          <p:cNvSpPr/>
          <p:nvPr/>
        </p:nvSpPr>
        <p:spPr>
          <a:xfrm>
            <a:off x="6309360" y="4114800"/>
            <a:ext cx="4892040" cy="960120"/>
          </a:xfrm>
          <a:prstGeom prst="roundRect">
            <a:avLst>
              <a:gd name="adj" fmla="val 9524"/>
            </a:avLst>
          </a:prstGeom>
          <a:solidFill>
            <a:srgbClr val="061827">
              <a:alpha val="92000"/>
            </a:srgbClr>
          </a:solidFill>
          <a:ln w="12700">
            <a:solidFill>
              <a:srgbClr val="FFB14E"/>
            </a:solidFill>
            <a:prstDash val="solid"/>
          </a:ln>
        </p:spPr>
        <p:txBody>
          <a:bodyPr/>
          <a:lstStyle/>
          <a:p>
            <a:endParaRPr lang="de-AT"/>
          </a:p>
        </p:txBody>
      </p:sp>
      <p:sp>
        <p:nvSpPr>
          <p:cNvPr id="21" name="Text 18"/>
          <p:cNvSpPr/>
          <p:nvPr/>
        </p:nvSpPr>
        <p:spPr>
          <a:xfrm>
            <a:off x="6437376" y="4224528"/>
            <a:ext cx="4636008" cy="740664"/>
          </a:xfrm>
          <a:prstGeom prst="rect">
            <a:avLst/>
          </a:prstGeom>
          <a:noFill/>
          <a:ln/>
        </p:spPr>
        <p:txBody>
          <a:bodyPr wrap="square" lIns="254" tIns="254" rIns="254" bIns="254" rtlCol="0" anchor="ctr">
            <a:normAutofit/>
          </a:bodyPr>
          <a:lstStyle/>
          <a:p>
            <a:pPr marL="0" indent="0">
              <a:buNone/>
            </a:pPr>
            <a:r>
              <a:rPr lang="en-US" sz="1400" dirty="0">
                <a:solidFill>
                  <a:srgbClr val="F4F8FF"/>
                </a:solidFill>
              </a:rPr>
              <a:t>Das bedeutet: Leveldesign wird zu einer Parameterentscheidung, nicht zu einer Liste von vorgebauten Prefabs.</a:t>
            </a:r>
            <a:endParaRPr lang="en-US" sz="1400" dirty="0"/>
          </a:p>
        </p:txBody>
      </p:sp>
      <p:sp>
        <p:nvSpPr>
          <p:cNvPr id="22" name="Text 19"/>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3" name="Text 20"/>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0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Safety Clamping</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Warum der Generator nicht unbegrenzt entscheiden darf</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868680" y="1508760"/>
            <a:ext cx="5303520" cy="1508760"/>
          </a:xfrm>
          <a:prstGeom prst="roundRect">
            <a:avLst>
              <a:gd name="adj" fmla="val 4848"/>
            </a:avLst>
          </a:prstGeom>
          <a:solidFill>
            <a:srgbClr val="020A12">
              <a:alpha val="98000"/>
            </a:srgbClr>
          </a:solidFill>
          <a:ln w="12700">
            <a:solidFill>
              <a:srgbClr val="2D607F"/>
            </a:solidFill>
            <a:prstDash val="solid"/>
          </a:ln>
        </p:spPr>
        <p:txBody>
          <a:bodyPr/>
          <a:lstStyle/>
          <a:p>
            <a:endParaRPr lang="de-AT"/>
          </a:p>
        </p:txBody>
      </p:sp>
      <p:sp>
        <p:nvSpPr>
          <p:cNvPr id="8" name="Text 5"/>
          <p:cNvSpPr/>
          <p:nvPr/>
        </p:nvSpPr>
        <p:spPr>
          <a:xfrm>
            <a:off x="1005840" y="1609344"/>
            <a:ext cx="5029200" cy="201168"/>
          </a:xfrm>
          <a:prstGeom prst="rect">
            <a:avLst/>
          </a:prstGeom>
          <a:noFill/>
          <a:ln/>
        </p:spPr>
        <p:txBody>
          <a:bodyPr wrap="square" lIns="0" tIns="0" rIns="0" bIns="0" rtlCol="0" anchor="ctr"/>
          <a:lstStyle/>
          <a:p>
            <a:pPr marL="0" indent="0">
              <a:buNone/>
            </a:pPr>
            <a:r>
              <a:rPr lang="en-US" sz="900" b="1" dirty="0">
                <a:solidFill>
                  <a:srgbClr val="6DF7D4"/>
                </a:solidFill>
              </a:rPr>
              <a:t>Ausschnitt aus SentisObstacleGenerator.cs</a:t>
            </a:r>
            <a:endParaRPr lang="en-US" sz="900" dirty="0"/>
          </a:p>
        </p:txBody>
      </p:sp>
      <p:sp>
        <p:nvSpPr>
          <p:cNvPr id="9" name="Text 6"/>
          <p:cNvSpPr/>
          <p:nvPr/>
        </p:nvSpPr>
        <p:spPr>
          <a:xfrm>
            <a:off x="1014984" y="1892808"/>
            <a:ext cx="5010912" cy="100584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float w = Mathf.Clamp(outputData[0], 2f, 25f);</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float h = Mathf.Clamp(outputData[1], 2f, 12f);</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float d = Mathf.Clamp(outputData[2], 10f, 50f);</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float y = Mathf.Clamp(outputData[3], -4f, 9f);</a:t>
            </a:r>
            <a:endParaRPr lang="en-US" sz="930" dirty="0"/>
          </a:p>
        </p:txBody>
      </p:sp>
      <p:sp>
        <p:nvSpPr>
          <p:cNvPr id="10" name="Text 7"/>
          <p:cNvSpPr/>
          <p:nvPr/>
        </p:nvSpPr>
        <p:spPr>
          <a:xfrm>
            <a:off x="6230601" y="1686512"/>
            <a:ext cx="548148" cy="246888"/>
          </a:xfrm>
          <a:prstGeom prst="rect">
            <a:avLst/>
          </a:prstGeom>
          <a:noFill/>
          <a:ln/>
        </p:spPr>
        <p:txBody>
          <a:bodyPr wrap="square" lIns="0" tIns="0" rIns="0" bIns="0" rtlCol="0" anchor="ctr"/>
          <a:lstStyle/>
          <a:p>
            <a:pPr marL="0" indent="0">
              <a:buNone/>
            </a:pPr>
            <a:r>
              <a:rPr lang="en-US" sz="1300" b="1" dirty="0">
                <a:solidFill>
                  <a:srgbClr val="3DDCFF"/>
                </a:solidFill>
              </a:rPr>
              <a:t>Width</a:t>
            </a:r>
            <a:endParaRPr lang="en-US" sz="1300" dirty="0"/>
          </a:p>
        </p:txBody>
      </p:sp>
      <p:sp>
        <p:nvSpPr>
          <p:cNvPr id="12" name="Text 9"/>
          <p:cNvSpPr/>
          <p:nvPr/>
        </p:nvSpPr>
        <p:spPr>
          <a:xfrm>
            <a:off x="7137228" y="1672796"/>
            <a:ext cx="1280160" cy="246888"/>
          </a:xfrm>
          <a:prstGeom prst="rect">
            <a:avLst/>
          </a:prstGeom>
          <a:noFill/>
          <a:ln/>
        </p:spPr>
        <p:txBody>
          <a:bodyPr wrap="square" lIns="0" tIns="0" rIns="0" bIns="0" rtlCol="0" anchor="ctr"/>
          <a:lstStyle/>
          <a:p>
            <a:pPr marL="0" indent="0">
              <a:buNone/>
            </a:pPr>
            <a:r>
              <a:rPr lang="en-US" sz="1300" b="1" dirty="0">
                <a:solidFill>
                  <a:srgbClr val="3DDCFF"/>
                </a:solidFill>
              </a:rPr>
              <a:t>2 bis 25</a:t>
            </a:r>
          </a:p>
        </p:txBody>
      </p:sp>
      <p:sp>
        <p:nvSpPr>
          <p:cNvPr id="13" name="Text 10"/>
          <p:cNvSpPr/>
          <p:nvPr/>
        </p:nvSpPr>
        <p:spPr>
          <a:xfrm>
            <a:off x="6230601" y="2472896"/>
            <a:ext cx="548148" cy="246888"/>
          </a:xfrm>
          <a:prstGeom prst="rect">
            <a:avLst/>
          </a:prstGeom>
          <a:noFill/>
          <a:ln/>
        </p:spPr>
        <p:txBody>
          <a:bodyPr wrap="square" lIns="0" tIns="0" rIns="0" bIns="0" rtlCol="0" anchor="ctr"/>
          <a:lstStyle/>
          <a:p>
            <a:pPr marL="0" indent="0">
              <a:buNone/>
            </a:pPr>
            <a:r>
              <a:rPr lang="en-US" sz="1300" b="1" dirty="0">
                <a:solidFill>
                  <a:srgbClr val="50E3A4"/>
                </a:solidFill>
              </a:rPr>
              <a:t>Height</a:t>
            </a:r>
            <a:endParaRPr lang="en-US" sz="1300" dirty="0"/>
          </a:p>
        </p:txBody>
      </p:sp>
      <p:sp>
        <p:nvSpPr>
          <p:cNvPr id="15" name="Text 12"/>
          <p:cNvSpPr/>
          <p:nvPr/>
        </p:nvSpPr>
        <p:spPr>
          <a:xfrm>
            <a:off x="7099281" y="2474199"/>
            <a:ext cx="1280160" cy="246888"/>
          </a:xfrm>
          <a:prstGeom prst="rect">
            <a:avLst/>
          </a:prstGeom>
          <a:noFill/>
          <a:ln/>
        </p:spPr>
        <p:txBody>
          <a:bodyPr wrap="square" lIns="0" tIns="0" rIns="0" bIns="0" rtlCol="0" anchor="ctr"/>
          <a:lstStyle/>
          <a:p>
            <a:pPr marL="0" indent="0">
              <a:buNone/>
            </a:pPr>
            <a:r>
              <a:rPr lang="en-US" sz="1300" b="1" dirty="0">
                <a:solidFill>
                  <a:srgbClr val="50E3A4"/>
                </a:solidFill>
              </a:rPr>
              <a:t>2 bis 12</a:t>
            </a:r>
          </a:p>
        </p:txBody>
      </p:sp>
      <p:sp>
        <p:nvSpPr>
          <p:cNvPr id="16" name="Text 13"/>
          <p:cNvSpPr/>
          <p:nvPr/>
        </p:nvSpPr>
        <p:spPr>
          <a:xfrm>
            <a:off x="8189242" y="1691643"/>
            <a:ext cx="1554480" cy="246888"/>
          </a:xfrm>
          <a:prstGeom prst="rect">
            <a:avLst/>
          </a:prstGeom>
          <a:noFill/>
          <a:ln/>
        </p:spPr>
        <p:txBody>
          <a:bodyPr wrap="square" lIns="0" tIns="0" rIns="0" bIns="0" rtlCol="0" anchor="ctr"/>
          <a:lstStyle/>
          <a:p>
            <a:pPr marL="0" indent="0">
              <a:buNone/>
            </a:pPr>
            <a:r>
              <a:rPr lang="en-US" sz="1300" b="1" dirty="0">
                <a:solidFill>
                  <a:srgbClr val="FFB14E"/>
                </a:solidFill>
              </a:rPr>
              <a:t>Distance</a:t>
            </a:r>
            <a:endParaRPr lang="en-US" sz="1300" dirty="0"/>
          </a:p>
        </p:txBody>
      </p:sp>
      <p:sp>
        <p:nvSpPr>
          <p:cNvPr id="18" name="Text 15"/>
          <p:cNvSpPr/>
          <p:nvPr/>
        </p:nvSpPr>
        <p:spPr>
          <a:xfrm>
            <a:off x="9115774" y="1698871"/>
            <a:ext cx="1280160" cy="246888"/>
          </a:xfrm>
          <a:prstGeom prst="rect">
            <a:avLst/>
          </a:prstGeom>
          <a:noFill/>
          <a:ln/>
        </p:spPr>
        <p:txBody>
          <a:bodyPr wrap="square" lIns="0" tIns="0" rIns="0" bIns="0" rtlCol="0" anchor="ctr"/>
          <a:lstStyle/>
          <a:p>
            <a:pPr marL="0" indent="0">
              <a:buNone/>
            </a:pPr>
            <a:r>
              <a:rPr lang="en-US" sz="1300" b="1" dirty="0">
                <a:solidFill>
                  <a:srgbClr val="FFB14E"/>
                </a:solidFill>
              </a:rPr>
              <a:t>10 bis 50</a:t>
            </a:r>
          </a:p>
        </p:txBody>
      </p:sp>
      <p:sp>
        <p:nvSpPr>
          <p:cNvPr id="19" name="Text 16"/>
          <p:cNvSpPr/>
          <p:nvPr/>
        </p:nvSpPr>
        <p:spPr>
          <a:xfrm>
            <a:off x="8214849" y="2475643"/>
            <a:ext cx="784123" cy="246888"/>
          </a:xfrm>
          <a:prstGeom prst="rect">
            <a:avLst/>
          </a:prstGeom>
          <a:noFill/>
          <a:ln/>
        </p:spPr>
        <p:txBody>
          <a:bodyPr wrap="square" lIns="0" tIns="0" rIns="0" bIns="0" rtlCol="0" anchor="ctr"/>
          <a:lstStyle/>
          <a:p>
            <a:pPr marL="0" indent="0">
              <a:buNone/>
            </a:pPr>
            <a:r>
              <a:rPr lang="en-US" sz="1300" b="1" dirty="0">
                <a:solidFill>
                  <a:srgbClr val="9B6DFF"/>
                </a:solidFill>
              </a:rPr>
              <a:t>Y Position</a:t>
            </a:r>
            <a:endParaRPr lang="en-US" sz="1300" dirty="0"/>
          </a:p>
        </p:txBody>
      </p:sp>
      <p:sp>
        <p:nvSpPr>
          <p:cNvPr id="21" name="Text 18"/>
          <p:cNvSpPr/>
          <p:nvPr/>
        </p:nvSpPr>
        <p:spPr>
          <a:xfrm>
            <a:off x="9115774" y="2481083"/>
            <a:ext cx="1280160" cy="246888"/>
          </a:xfrm>
          <a:prstGeom prst="rect">
            <a:avLst/>
          </a:prstGeom>
          <a:noFill/>
          <a:ln/>
        </p:spPr>
        <p:txBody>
          <a:bodyPr wrap="square" lIns="0" tIns="0" rIns="0" bIns="0" rtlCol="0" anchor="ctr"/>
          <a:lstStyle/>
          <a:p>
            <a:pPr marL="0" indent="0">
              <a:buNone/>
            </a:pPr>
            <a:r>
              <a:rPr lang="en-US" sz="1300" b="1" dirty="0">
                <a:solidFill>
                  <a:srgbClr val="9B6DFF"/>
                </a:solidFill>
              </a:rPr>
              <a:t>-4 bis 9</a:t>
            </a:r>
          </a:p>
        </p:txBody>
      </p:sp>
      <p:sp>
        <p:nvSpPr>
          <p:cNvPr id="22" name="Shape 19"/>
          <p:cNvSpPr/>
          <p:nvPr/>
        </p:nvSpPr>
        <p:spPr>
          <a:xfrm>
            <a:off x="960120" y="4434840"/>
            <a:ext cx="10332720" cy="731520"/>
          </a:xfrm>
          <a:prstGeom prst="roundRect">
            <a:avLst>
              <a:gd name="adj" fmla="val 12500"/>
            </a:avLst>
          </a:prstGeom>
          <a:solidFill>
            <a:srgbClr val="061827">
              <a:alpha val="92000"/>
            </a:srgbClr>
          </a:solidFill>
          <a:ln w="12700">
            <a:solidFill>
              <a:srgbClr val="3DDCFF"/>
            </a:solidFill>
            <a:prstDash val="solid"/>
          </a:ln>
        </p:spPr>
        <p:txBody>
          <a:bodyPr/>
          <a:lstStyle/>
          <a:p>
            <a:endParaRPr lang="de-AT"/>
          </a:p>
        </p:txBody>
      </p:sp>
      <p:sp>
        <p:nvSpPr>
          <p:cNvPr id="23" name="Text 20"/>
          <p:cNvSpPr/>
          <p:nvPr/>
        </p:nvSpPr>
        <p:spPr>
          <a:xfrm>
            <a:off x="1088136" y="4544568"/>
            <a:ext cx="10076688" cy="512064"/>
          </a:xfrm>
          <a:prstGeom prst="rect">
            <a:avLst/>
          </a:prstGeom>
          <a:noFill/>
          <a:ln/>
        </p:spPr>
        <p:txBody>
          <a:bodyPr wrap="square" lIns="254" tIns="254" rIns="254" bIns="254" rtlCol="0" anchor="ctr">
            <a:normAutofit/>
          </a:bodyPr>
          <a:lstStyle/>
          <a:p>
            <a:pPr marL="0" indent="0">
              <a:buNone/>
            </a:pPr>
            <a:r>
              <a:rPr lang="en-US" sz="1400" dirty="0">
                <a:solidFill>
                  <a:srgbClr val="F4F8FF"/>
                </a:solidFill>
              </a:rPr>
              <a:t>Clamping verhindert extreme Modell Ausgaben. Danach prüft der Validator trotzdem, ob die konkrete Kombination mit Tempo und Position spielbar bleibt.</a:t>
            </a:r>
            <a:endParaRPr lang="en-US" sz="1400" dirty="0"/>
          </a:p>
        </p:txBody>
      </p:sp>
      <p:sp>
        <p:nvSpPr>
          <p:cNvPr id="24" name="Text 21"/>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5" name="Text 22"/>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4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Aus Zahlen werden Meteoriten</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Der ProceduralPolygonGenerator baut zur Laufzeit Mesh und Collider</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Text 4"/>
          <p:cNvSpPr/>
          <p:nvPr/>
        </p:nvSpPr>
        <p:spPr>
          <a:xfrm>
            <a:off x="868680" y="1325880"/>
            <a:ext cx="3017520" cy="320040"/>
          </a:xfrm>
          <a:prstGeom prst="rect">
            <a:avLst/>
          </a:prstGeom>
          <a:noFill/>
          <a:ln/>
        </p:spPr>
        <p:txBody>
          <a:bodyPr wrap="square" lIns="0" tIns="0" rIns="0" bIns="0" rtlCol="0" anchor="ctr"/>
          <a:lstStyle/>
          <a:p>
            <a:pPr marL="0" indent="0">
              <a:buNone/>
            </a:pPr>
            <a:r>
              <a:rPr lang="en-US" sz="1900" b="1" dirty="0">
                <a:solidFill>
                  <a:srgbClr val="6DF7D4"/>
                </a:solidFill>
              </a:rPr>
              <a:t>ObstacleParameters</a:t>
            </a:r>
            <a:endParaRPr lang="en-US" sz="1900" dirty="0"/>
          </a:p>
        </p:txBody>
      </p:sp>
      <p:sp>
        <p:nvSpPr>
          <p:cNvPr id="8" name="Text 5"/>
          <p:cNvSpPr/>
          <p:nvPr/>
        </p:nvSpPr>
        <p:spPr>
          <a:xfrm>
            <a:off x="914400" y="1810512"/>
            <a:ext cx="2468880" cy="1143000"/>
          </a:xfrm>
          <a:prstGeom prst="rect">
            <a:avLst/>
          </a:prstGeom>
          <a:noFill/>
          <a:ln/>
        </p:spPr>
        <p:txBody>
          <a:bodyPr wrap="square" lIns="508" tIns="508" rIns="508" bIns="508" rtlCol="0" anchor="ctr">
            <a:normAutofit/>
          </a:bodyPr>
          <a:lstStyle/>
          <a:p>
            <a:pPr marL="152400" indent="-152400">
              <a:buSzPct val="100000"/>
              <a:buChar char="•"/>
            </a:pPr>
            <a:r>
              <a:rPr lang="en-US" sz="1500" dirty="0">
                <a:solidFill>
                  <a:srgbClr val="F4F8FF"/>
                </a:solidFill>
              </a:rPr>
              <a:t>width</a:t>
            </a:r>
            <a:endParaRPr lang="en-US" sz="1500" dirty="0"/>
          </a:p>
          <a:p>
            <a:pPr marL="152400" indent="-152400">
              <a:buSzPct val="100000"/>
              <a:buChar char="•"/>
            </a:pPr>
            <a:r>
              <a:rPr lang="en-US" sz="1500" dirty="0">
                <a:solidFill>
                  <a:srgbClr val="F4F8FF"/>
                </a:solidFill>
              </a:rPr>
              <a:t>height</a:t>
            </a:r>
            <a:endParaRPr lang="en-US" sz="1500" dirty="0"/>
          </a:p>
          <a:p>
            <a:pPr marL="152400" indent="-152400">
              <a:buSzPct val="100000"/>
              <a:buChar char="•"/>
            </a:pPr>
            <a:r>
              <a:rPr lang="en-US" sz="1500" dirty="0">
                <a:solidFill>
                  <a:srgbClr val="F4F8FF"/>
                </a:solidFill>
              </a:rPr>
              <a:t>distanceToNext</a:t>
            </a:r>
            <a:endParaRPr lang="en-US" sz="1500" dirty="0"/>
          </a:p>
          <a:p>
            <a:pPr marL="152400" indent="-152400">
              <a:buSzPct val="100000"/>
              <a:buChar char="•"/>
            </a:pPr>
            <a:r>
              <a:rPr lang="en-US" sz="1500" dirty="0">
                <a:solidFill>
                  <a:srgbClr val="F4F8FF"/>
                </a:solidFill>
              </a:rPr>
              <a:t>yPosition</a:t>
            </a:r>
            <a:endParaRPr lang="en-US" sz="1500" dirty="0"/>
          </a:p>
        </p:txBody>
      </p:sp>
      <p:sp>
        <p:nvSpPr>
          <p:cNvPr id="9" name="Shape 6"/>
          <p:cNvSpPr/>
          <p:nvPr/>
        </p:nvSpPr>
        <p:spPr>
          <a:xfrm>
            <a:off x="3429000" y="2057400"/>
            <a:ext cx="1234440" cy="0"/>
          </a:xfrm>
          <a:prstGeom prst="line">
            <a:avLst/>
          </a:prstGeom>
          <a:noFill/>
          <a:ln w="12700">
            <a:solidFill>
              <a:srgbClr val="3DDCFF"/>
            </a:solidFill>
            <a:prstDash val="solid"/>
            <a:headEnd type="none"/>
            <a:tailEnd type="triangle"/>
          </a:ln>
        </p:spPr>
        <p:txBody>
          <a:bodyPr/>
          <a:lstStyle/>
          <a:p>
            <a:endParaRPr lang="de-AT"/>
          </a:p>
        </p:txBody>
      </p:sp>
      <p:sp>
        <p:nvSpPr>
          <p:cNvPr id="11" name="Text 8"/>
          <p:cNvSpPr/>
          <p:nvPr/>
        </p:nvSpPr>
        <p:spPr>
          <a:xfrm>
            <a:off x="5166360" y="1856232"/>
            <a:ext cx="1645920" cy="502920"/>
          </a:xfrm>
          <a:prstGeom prst="rect">
            <a:avLst/>
          </a:prstGeom>
          <a:noFill/>
          <a:ln/>
        </p:spPr>
        <p:txBody>
          <a:bodyPr wrap="square" lIns="0" tIns="0" rIns="0" bIns="0" rtlCol="0" anchor="ctr"/>
          <a:lstStyle/>
          <a:p>
            <a:pPr marL="0" indent="0" algn="ctr">
              <a:buNone/>
            </a:pPr>
            <a:r>
              <a:rPr lang="en-US" sz="1800" b="1" dirty="0">
                <a:solidFill>
                  <a:srgbClr val="F4F8FF"/>
                </a:solidFill>
              </a:rPr>
              <a:t>3 bis 11</a:t>
            </a:r>
            <a:endParaRPr lang="en-US" sz="1800" dirty="0"/>
          </a:p>
          <a:p>
            <a:pPr marL="0" indent="0" algn="ctr">
              <a:buNone/>
            </a:pPr>
            <a:r>
              <a:rPr lang="en-US" sz="1800" b="1" dirty="0">
                <a:solidFill>
                  <a:srgbClr val="F4F8FF"/>
                </a:solidFill>
              </a:rPr>
              <a:t>Ecken</a:t>
            </a:r>
            <a:endParaRPr lang="en-US" sz="1800" dirty="0"/>
          </a:p>
        </p:txBody>
      </p:sp>
      <p:sp>
        <p:nvSpPr>
          <p:cNvPr id="12" name="Shape 9"/>
          <p:cNvSpPr/>
          <p:nvPr/>
        </p:nvSpPr>
        <p:spPr>
          <a:xfrm>
            <a:off x="7223760" y="2057400"/>
            <a:ext cx="1097280" cy="0"/>
          </a:xfrm>
          <a:prstGeom prst="line">
            <a:avLst/>
          </a:prstGeom>
          <a:noFill/>
          <a:ln w="12700">
            <a:solidFill>
              <a:srgbClr val="FFB14E"/>
            </a:solidFill>
            <a:prstDash val="solid"/>
            <a:headEnd type="none"/>
            <a:tailEnd type="triangle"/>
          </a:ln>
        </p:spPr>
        <p:txBody>
          <a:bodyPr/>
          <a:lstStyle/>
          <a:p>
            <a:endParaRPr lang="de-AT"/>
          </a:p>
        </p:txBody>
      </p:sp>
      <p:sp>
        <p:nvSpPr>
          <p:cNvPr id="13" name="Shape 10"/>
          <p:cNvSpPr/>
          <p:nvPr/>
        </p:nvSpPr>
        <p:spPr>
          <a:xfrm>
            <a:off x="8458200" y="1335024"/>
            <a:ext cx="2468880" cy="1965960"/>
          </a:xfrm>
          <a:prstGeom prst="irregularSeal1">
            <a:avLst/>
          </a:prstGeom>
          <a:solidFill>
            <a:srgbClr val="4A4E55">
              <a:alpha val="95000"/>
            </a:srgbClr>
          </a:solidFill>
          <a:ln w="12700">
            <a:solidFill>
              <a:srgbClr val="FFB14E"/>
            </a:solidFill>
            <a:prstDash val="solid"/>
          </a:ln>
        </p:spPr>
        <p:txBody>
          <a:bodyPr/>
          <a:lstStyle/>
          <a:p>
            <a:endParaRPr lang="de-AT"/>
          </a:p>
        </p:txBody>
      </p:sp>
      <p:sp>
        <p:nvSpPr>
          <p:cNvPr id="14" name="Text 11"/>
          <p:cNvSpPr/>
          <p:nvPr/>
        </p:nvSpPr>
        <p:spPr>
          <a:xfrm>
            <a:off x="8641080" y="3566160"/>
            <a:ext cx="2148840" cy="411480"/>
          </a:xfrm>
          <a:prstGeom prst="rect">
            <a:avLst/>
          </a:prstGeom>
          <a:noFill/>
          <a:ln/>
        </p:spPr>
        <p:txBody>
          <a:bodyPr wrap="square" lIns="0" tIns="0" rIns="0" bIns="0" rtlCol="0" anchor="ctr"/>
          <a:lstStyle/>
          <a:p>
            <a:pPr marL="0" indent="0" algn="ctr">
              <a:buNone/>
            </a:pPr>
            <a:r>
              <a:rPr lang="en-US" sz="1300" dirty="0">
                <a:solidFill>
                  <a:srgbClr val="B9C9D8"/>
                </a:solidFill>
              </a:rPr>
              <a:t>einzigartige Form</a:t>
            </a:r>
            <a:endParaRPr lang="en-US" sz="1300" dirty="0"/>
          </a:p>
          <a:p>
            <a:pPr marL="0" indent="0" algn="ctr">
              <a:buNone/>
            </a:pPr>
            <a:r>
              <a:rPr lang="en-US" sz="1300" dirty="0">
                <a:solidFill>
                  <a:srgbClr val="B9C9D8"/>
                </a:solidFill>
              </a:rPr>
              <a:t>plus Collider</a:t>
            </a:r>
            <a:endParaRPr lang="en-US" sz="1300" dirty="0"/>
          </a:p>
        </p:txBody>
      </p:sp>
      <p:sp>
        <p:nvSpPr>
          <p:cNvPr id="15" name="Shape 12"/>
          <p:cNvSpPr/>
          <p:nvPr/>
        </p:nvSpPr>
        <p:spPr>
          <a:xfrm>
            <a:off x="914400" y="4160520"/>
            <a:ext cx="5212080" cy="1417320"/>
          </a:xfrm>
          <a:prstGeom prst="roundRect">
            <a:avLst>
              <a:gd name="adj" fmla="val 5161"/>
            </a:avLst>
          </a:prstGeom>
          <a:solidFill>
            <a:srgbClr val="020A12">
              <a:alpha val="98000"/>
            </a:srgbClr>
          </a:solidFill>
          <a:ln w="12700">
            <a:solidFill>
              <a:srgbClr val="2D607F"/>
            </a:solidFill>
            <a:prstDash val="solid"/>
          </a:ln>
        </p:spPr>
        <p:txBody>
          <a:bodyPr/>
          <a:lstStyle/>
          <a:p>
            <a:endParaRPr lang="de-AT"/>
          </a:p>
        </p:txBody>
      </p:sp>
      <p:sp>
        <p:nvSpPr>
          <p:cNvPr id="16" name="Text 13"/>
          <p:cNvSpPr/>
          <p:nvPr/>
        </p:nvSpPr>
        <p:spPr>
          <a:xfrm>
            <a:off x="1051560" y="4261104"/>
            <a:ext cx="4937760" cy="201168"/>
          </a:xfrm>
          <a:prstGeom prst="rect">
            <a:avLst/>
          </a:prstGeom>
          <a:noFill/>
          <a:ln/>
        </p:spPr>
        <p:txBody>
          <a:bodyPr wrap="square" lIns="0" tIns="0" rIns="0" bIns="0" rtlCol="0" anchor="ctr"/>
          <a:lstStyle/>
          <a:p>
            <a:pPr marL="0" indent="0">
              <a:buNone/>
            </a:pPr>
            <a:r>
              <a:rPr lang="en-US" sz="900" b="1" dirty="0">
                <a:solidFill>
                  <a:srgbClr val="6DF7D4"/>
                </a:solidFill>
              </a:rPr>
              <a:t>Prinzip der Polygonform</a:t>
            </a:r>
            <a:endParaRPr lang="en-US" sz="900" dirty="0"/>
          </a:p>
        </p:txBody>
      </p:sp>
      <p:sp>
        <p:nvSpPr>
          <p:cNvPr id="17" name="Text 14"/>
          <p:cNvSpPr/>
          <p:nvPr/>
        </p:nvSpPr>
        <p:spPr>
          <a:xfrm>
            <a:off x="1060704" y="4544568"/>
            <a:ext cx="4919472" cy="91440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vertexCount = Random.Range(3, 12)</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angle = i * PI * 2 / vertexCount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r = Random.Range(0.4f, 1.0f)</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polygonCollider.points = points</a:t>
            </a:r>
            <a:endParaRPr lang="en-US" sz="930" dirty="0"/>
          </a:p>
        </p:txBody>
      </p:sp>
      <p:sp>
        <p:nvSpPr>
          <p:cNvPr id="18" name="Shape 15"/>
          <p:cNvSpPr/>
          <p:nvPr/>
        </p:nvSpPr>
        <p:spPr>
          <a:xfrm>
            <a:off x="6537960" y="4251960"/>
            <a:ext cx="4572000" cy="1051560"/>
          </a:xfrm>
          <a:prstGeom prst="roundRect">
            <a:avLst>
              <a:gd name="adj" fmla="val 8696"/>
            </a:avLst>
          </a:prstGeom>
          <a:solidFill>
            <a:srgbClr val="061827">
              <a:alpha val="92000"/>
            </a:srgbClr>
          </a:solidFill>
          <a:ln w="12700">
            <a:solidFill>
              <a:srgbClr val="FFB14E"/>
            </a:solidFill>
            <a:prstDash val="solid"/>
          </a:ln>
        </p:spPr>
        <p:txBody>
          <a:bodyPr/>
          <a:lstStyle/>
          <a:p>
            <a:endParaRPr lang="de-AT"/>
          </a:p>
        </p:txBody>
      </p:sp>
      <p:sp>
        <p:nvSpPr>
          <p:cNvPr id="19" name="Text 16"/>
          <p:cNvSpPr/>
          <p:nvPr/>
        </p:nvSpPr>
        <p:spPr>
          <a:xfrm>
            <a:off x="6665976" y="4361688"/>
            <a:ext cx="4315968" cy="832104"/>
          </a:xfrm>
          <a:prstGeom prst="rect">
            <a:avLst/>
          </a:prstGeom>
          <a:noFill/>
          <a:ln/>
        </p:spPr>
        <p:txBody>
          <a:bodyPr wrap="square" lIns="254" tIns="254" rIns="254" bIns="254" rtlCol="0" anchor="ctr">
            <a:normAutofit/>
          </a:bodyPr>
          <a:lstStyle/>
          <a:p>
            <a:pPr marL="0" indent="0">
              <a:buNone/>
            </a:pPr>
            <a:r>
              <a:rPr lang="en-US" sz="1400" dirty="0">
                <a:solidFill>
                  <a:srgbClr val="F4F8FF"/>
                </a:solidFill>
              </a:rPr>
              <a:t>Der Wiederholungseffekt wird reduziert, weil jedes Hindernis zwar kontrollierte Maße hat, aber eine neue Silhouette bekommt.</a:t>
            </a:r>
            <a:endParaRPr lang="en-US" sz="1400" dirty="0"/>
          </a:p>
        </p:txBody>
      </p:sp>
      <p:sp>
        <p:nvSpPr>
          <p:cNvPr id="20" name="Text 17"/>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1" name="Text 18"/>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0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Spawn Muster</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Der Spawner macht aus Einzelparametern spielbare Sequenzen</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731520" y="1508760"/>
            <a:ext cx="1874520" cy="1051560"/>
          </a:xfrm>
          <a:prstGeom prst="roundRect">
            <a:avLst>
              <a:gd name="adj" fmla="val 6957"/>
            </a:avLst>
          </a:prstGeom>
          <a:solidFill>
            <a:srgbClr val="0E2537">
              <a:alpha val="96000"/>
            </a:srgbClr>
          </a:solidFill>
          <a:ln w="12700">
            <a:solidFill>
              <a:srgbClr val="3DDCFF"/>
            </a:solidFill>
            <a:prstDash val="solid"/>
          </a:ln>
        </p:spPr>
        <p:txBody>
          <a:bodyPr/>
          <a:lstStyle/>
          <a:p>
            <a:endParaRPr lang="de-AT"/>
          </a:p>
        </p:txBody>
      </p:sp>
      <p:sp>
        <p:nvSpPr>
          <p:cNvPr id="8" name="Text 5"/>
          <p:cNvSpPr/>
          <p:nvPr/>
        </p:nvSpPr>
        <p:spPr>
          <a:xfrm>
            <a:off x="822960" y="1709928"/>
            <a:ext cx="1691640" cy="228600"/>
          </a:xfrm>
          <a:prstGeom prst="rect">
            <a:avLst/>
          </a:prstGeom>
          <a:noFill/>
          <a:ln/>
        </p:spPr>
        <p:txBody>
          <a:bodyPr wrap="square" lIns="0" tIns="0" rIns="0" bIns="0" rtlCol="0" anchor="ctr"/>
          <a:lstStyle/>
          <a:p>
            <a:pPr marL="0" indent="0" algn="ctr">
              <a:buNone/>
            </a:pPr>
            <a:r>
              <a:rPr lang="en-US" sz="1500" b="1" dirty="0">
                <a:solidFill>
                  <a:srgbClr val="F4F8FF"/>
                </a:solidFill>
              </a:rPr>
              <a:t>Single</a:t>
            </a:r>
            <a:endParaRPr lang="en-US" sz="1500" dirty="0"/>
          </a:p>
        </p:txBody>
      </p:sp>
      <p:sp>
        <p:nvSpPr>
          <p:cNvPr id="9" name="Text 6"/>
          <p:cNvSpPr/>
          <p:nvPr/>
        </p:nvSpPr>
        <p:spPr>
          <a:xfrm>
            <a:off x="841248" y="2057400"/>
            <a:ext cx="1645920" cy="228600"/>
          </a:xfrm>
          <a:prstGeom prst="rect">
            <a:avLst/>
          </a:prstGeom>
          <a:noFill/>
          <a:ln/>
        </p:spPr>
        <p:txBody>
          <a:bodyPr wrap="square" lIns="0" tIns="0" rIns="0" bIns="0" rtlCol="0" anchor="ctr"/>
          <a:lstStyle/>
          <a:p>
            <a:pPr marL="0" indent="0" algn="ctr">
              <a:buNone/>
            </a:pPr>
            <a:r>
              <a:rPr lang="en-US" sz="940" dirty="0">
                <a:solidFill>
                  <a:srgbClr val="B9C9D8"/>
                </a:solidFill>
              </a:rPr>
              <a:t>ein Hindernis</a:t>
            </a:r>
            <a:endParaRPr lang="en-US" sz="940" dirty="0"/>
          </a:p>
        </p:txBody>
      </p:sp>
      <p:sp>
        <p:nvSpPr>
          <p:cNvPr id="10" name="Shape 7"/>
          <p:cNvSpPr/>
          <p:nvPr/>
        </p:nvSpPr>
        <p:spPr>
          <a:xfrm>
            <a:off x="2971800" y="1508760"/>
            <a:ext cx="1874520" cy="1051560"/>
          </a:xfrm>
          <a:prstGeom prst="roundRect">
            <a:avLst>
              <a:gd name="adj" fmla="val 6957"/>
            </a:avLst>
          </a:prstGeom>
          <a:solidFill>
            <a:srgbClr val="0E2537">
              <a:alpha val="96000"/>
            </a:srgbClr>
          </a:solidFill>
          <a:ln w="12700">
            <a:solidFill>
              <a:srgbClr val="50E3A4"/>
            </a:solidFill>
            <a:prstDash val="solid"/>
          </a:ln>
        </p:spPr>
        <p:txBody>
          <a:bodyPr/>
          <a:lstStyle/>
          <a:p>
            <a:endParaRPr lang="de-AT"/>
          </a:p>
        </p:txBody>
      </p:sp>
      <p:sp>
        <p:nvSpPr>
          <p:cNvPr id="11" name="Text 8"/>
          <p:cNvSpPr/>
          <p:nvPr/>
        </p:nvSpPr>
        <p:spPr>
          <a:xfrm>
            <a:off x="3063240" y="1709928"/>
            <a:ext cx="1691640" cy="228600"/>
          </a:xfrm>
          <a:prstGeom prst="rect">
            <a:avLst/>
          </a:prstGeom>
          <a:noFill/>
          <a:ln/>
        </p:spPr>
        <p:txBody>
          <a:bodyPr wrap="square" lIns="0" tIns="0" rIns="0" bIns="0" rtlCol="0" anchor="ctr"/>
          <a:lstStyle/>
          <a:p>
            <a:pPr marL="0" indent="0" algn="ctr">
              <a:buNone/>
            </a:pPr>
            <a:r>
              <a:rPr lang="en-US" sz="1500" b="1" dirty="0">
                <a:solidFill>
                  <a:srgbClr val="F4F8FF"/>
                </a:solidFill>
              </a:rPr>
              <a:t>Tunnel</a:t>
            </a:r>
            <a:endParaRPr lang="en-US" sz="1500" dirty="0"/>
          </a:p>
        </p:txBody>
      </p:sp>
      <p:sp>
        <p:nvSpPr>
          <p:cNvPr id="12" name="Text 9"/>
          <p:cNvSpPr/>
          <p:nvPr/>
        </p:nvSpPr>
        <p:spPr>
          <a:xfrm>
            <a:off x="3081528" y="2057400"/>
            <a:ext cx="1645920" cy="228600"/>
          </a:xfrm>
          <a:prstGeom prst="rect">
            <a:avLst/>
          </a:prstGeom>
          <a:noFill/>
          <a:ln/>
        </p:spPr>
        <p:txBody>
          <a:bodyPr wrap="square" lIns="0" tIns="0" rIns="0" bIns="0" rtlCol="0" anchor="ctr"/>
          <a:lstStyle/>
          <a:p>
            <a:pPr marL="0" indent="0" algn="ctr">
              <a:buNone/>
            </a:pPr>
            <a:r>
              <a:rPr lang="en-US" sz="940" dirty="0">
                <a:solidFill>
                  <a:srgbClr val="B9C9D8"/>
                </a:solidFill>
              </a:rPr>
              <a:t>oben und unten mit Lücke</a:t>
            </a:r>
            <a:endParaRPr lang="en-US" sz="940" dirty="0"/>
          </a:p>
        </p:txBody>
      </p:sp>
      <p:sp>
        <p:nvSpPr>
          <p:cNvPr id="13" name="Shape 10"/>
          <p:cNvSpPr/>
          <p:nvPr/>
        </p:nvSpPr>
        <p:spPr>
          <a:xfrm>
            <a:off x="5212080" y="1508760"/>
            <a:ext cx="1874520" cy="1051560"/>
          </a:xfrm>
          <a:prstGeom prst="roundRect">
            <a:avLst>
              <a:gd name="adj" fmla="val 6957"/>
            </a:avLst>
          </a:prstGeom>
          <a:solidFill>
            <a:srgbClr val="0E2537">
              <a:alpha val="96000"/>
            </a:srgbClr>
          </a:solidFill>
          <a:ln w="12700">
            <a:solidFill>
              <a:srgbClr val="FFB14E"/>
            </a:solidFill>
            <a:prstDash val="solid"/>
          </a:ln>
        </p:spPr>
        <p:txBody>
          <a:bodyPr/>
          <a:lstStyle/>
          <a:p>
            <a:endParaRPr lang="de-AT"/>
          </a:p>
        </p:txBody>
      </p:sp>
      <p:sp>
        <p:nvSpPr>
          <p:cNvPr id="14" name="Text 11"/>
          <p:cNvSpPr/>
          <p:nvPr/>
        </p:nvSpPr>
        <p:spPr>
          <a:xfrm>
            <a:off x="5303520" y="1709928"/>
            <a:ext cx="1691640" cy="228600"/>
          </a:xfrm>
          <a:prstGeom prst="rect">
            <a:avLst/>
          </a:prstGeom>
          <a:noFill/>
          <a:ln/>
        </p:spPr>
        <p:txBody>
          <a:bodyPr wrap="square" lIns="0" tIns="0" rIns="0" bIns="0" rtlCol="0" anchor="ctr"/>
          <a:lstStyle/>
          <a:p>
            <a:pPr marL="0" indent="0" algn="ctr">
              <a:buNone/>
            </a:pPr>
            <a:r>
              <a:rPr lang="en-US" sz="1500" b="1" dirty="0">
                <a:solidFill>
                  <a:srgbClr val="F4F8FF"/>
                </a:solidFill>
              </a:rPr>
              <a:t>Stacked</a:t>
            </a:r>
            <a:endParaRPr lang="en-US" sz="1500" dirty="0"/>
          </a:p>
        </p:txBody>
      </p:sp>
      <p:sp>
        <p:nvSpPr>
          <p:cNvPr id="15" name="Text 12"/>
          <p:cNvSpPr/>
          <p:nvPr/>
        </p:nvSpPr>
        <p:spPr>
          <a:xfrm>
            <a:off x="5321808" y="2057400"/>
            <a:ext cx="1645920" cy="228600"/>
          </a:xfrm>
          <a:prstGeom prst="rect">
            <a:avLst/>
          </a:prstGeom>
          <a:noFill/>
          <a:ln/>
        </p:spPr>
        <p:txBody>
          <a:bodyPr wrap="square" lIns="0" tIns="0" rIns="0" bIns="0" rtlCol="0" anchor="ctr"/>
          <a:lstStyle/>
          <a:p>
            <a:pPr marL="0" indent="0" algn="ctr">
              <a:buNone/>
            </a:pPr>
            <a:r>
              <a:rPr lang="en-US" sz="940" dirty="0">
                <a:solidFill>
                  <a:srgbClr val="B9C9D8"/>
                </a:solidFill>
              </a:rPr>
              <a:t>vertikal gestapelte Objekte</a:t>
            </a:r>
            <a:endParaRPr lang="en-US" sz="940" dirty="0"/>
          </a:p>
        </p:txBody>
      </p:sp>
      <p:sp>
        <p:nvSpPr>
          <p:cNvPr id="16" name="Shape 13"/>
          <p:cNvSpPr/>
          <p:nvPr/>
        </p:nvSpPr>
        <p:spPr>
          <a:xfrm>
            <a:off x="7452360" y="1508760"/>
            <a:ext cx="1874520" cy="1051560"/>
          </a:xfrm>
          <a:prstGeom prst="roundRect">
            <a:avLst>
              <a:gd name="adj" fmla="val 6957"/>
            </a:avLst>
          </a:prstGeom>
          <a:solidFill>
            <a:srgbClr val="0E2537">
              <a:alpha val="96000"/>
            </a:srgbClr>
          </a:solidFill>
          <a:ln w="12700">
            <a:solidFill>
              <a:srgbClr val="9B6DFF"/>
            </a:solidFill>
            <a:prstDash val="solid"/>
          </a:ln>
        </p:spPr>
        <p:txBody>
          <a:bodyPr/>
          <a:lstStyle/>
          <a:p>
            <a:endParaRPr lang="de-AT"/>
          </a:p>
        </p:txBody>
      </p:sp>
      <p:sp>
        <p:nvSpPr>
          <p:cNvPr id="17" name="Text 14"/>
          <p:cNvSpPr/>
          <p:nvPr/>
        </p:nvSpPr>
        <p:spPr>
          <a:xfrm>
            <a:off x="7543800" y="1709928"/>
            <a:ext cx="1691640" cy="228600"/>
          </a:xfrm>
          <a:prstGeom prst="rect">
            <a:avLst/>
          </a:prstGeom>
          <a:noFill/>
          <a:ln/>
        </p:spPr>
        <p:txBody>
          <a:bodyPr wrap="square" lIns="0" tIns="0" rIns="0" bIns="0" rtlCol="0" anchor="ctr"/>
          <a:lstStyle/>
          <a:p>
            <a:pPr marL="0" indent="0" algn="ctr">
              <a:buNone/>
            </a:pPr>
            <a:r>
              <a:rPr lang="en-US" sz="1500" b="1" dirty="0">
                <a:solidFill>
                  <a:srgbClr val="F4F8FF"/>
                </a:solidFill>
              </a:rPr>
              <a:t>Cluster</a:t>
            </a:r>
            <a:endParaRPr lang="en-US" sz="1500" dirty="0"/>
          </a:p>
        </p:txBody>
      </p:sp>
      <p:sp>
        <p:nvSpPr>
          <p:cNvPr id="18" name="Text 15"/>
          <p:cNvSpPr/>
          <p:nvPr/>
        </p:nvSpPr>
        <p:spPr>
          <a:xfrm>
            <a:off x="7562088" y="2057400"/>
            <a:ext cx="1645920" cy="228600"/>
          </a:xfrm>
          <a:prstGeom prst="rect">
            <a:avLst/>
          </a:prstGeom>
          <a:noFill/>
          <a:ln/>
        </p:spPr>
        <p:txBody>
          <a:bodyPr wrap="square" lIns="0" tIns="0" rIns="0" bIns="0" rtlCol="0" anchor="ctr"/>
          <a:lstStyle/>
          <a:p>
            <a:pPr marL="0" indent="0" algn="ctr">
              <a:buNone/>
            </a:pPr>
            <a:r>
              <a:rPr lang="en-US" sz="940" dirty="0">
                <a:solidFill>
                  <a:srgbClr val="B9C9D8"/>
                </a:solidFill>
              </a:rPr>
              <a:t>mehrere kleine Objekte</a:t>
            </a:r>
            <a:endParaRPr lang="en-US" sz="940" dirty="0"/>
          </a:p>
        </p:txBody>
      </p:sp>
      <p:sp>
        <p:nvSpPr>
          <p:cNvPr id="19" name="Shape 16"/>
          <p:cNvSpPr/>
          <p:nvPr/>
        </p:nvSpPr>
        <p:spPr>
          <a:xfrm>
            <a:off x="9692640" y="1508760"/>
            <a:ext cx="1874520" cy="1051560"/>
          </a:xfrm>
          <a:prstGeom prst="roundRect">
            <a:avLst>
              <a:gd name="adj" fmla="val 6957"/>
            </a:avLst>
          </a:prstGeom>
          <a:solidFill>
            <a:srgbClr val="0E2537">
              <a:alpha val="96000"/>
            </a:srgbClr>
          </a:solidFill>
          <a:ln w="12700">
            <a:solidFill>
              <a:srgbClr val="6DF7D4"/>
            </a:solidFill>
            <a:prstDash val="solid"/>
          </a:ln>
        </p:spPr>
        <p:txBody>
          <a:bodyPr/>
          <a:lstStyle/>
          <a:p>
            <a:endParaRPr lang="de-AT"/>
          </a:p>
        </p:txBody>
      </p:sp>
      <p:sp>
        <p:nvSpPr>
          <p:cNvPr id="20" name="Text 17"/>
          <p:cNvSpPr/>
          <p:nvPr/>
        </p:nvSpPr>
        <p:spPr>
          <a:xfrm>
            <a:off x="9784080" y="1709928"/>
            <a:ext cx="1691640" cy="228600"/>
          </a:xfrm>
          <a:prstGeom prst="rect">
            <a:avLst/>
          </a:prstGeom>
          <a:noFill/>
          <a:ln/>
        </p:spPr>
        <p:txBody>
          <a:bodyPr wrap="square" lIns="0" tIns="0" rIns="0" bIns="0" rtlCol="0" anchor="ctr"/>
          <a:lstStyle/>
          <a:p>
            <a:pPr marL="0" indent="0" algn="ctr">
              <a:buNone/>
            </a:pPr>
            <a:r>
              <a:rPr lang="en-US" sz="1500" b="1" dirty="0">
                <a:solidFill>
                  <a:srgbClr val="F4F8FF"/>
                </a:solidFill>
              </a:rPr>
              <a:t>Close Sequence</a:t>
            </a:r>
            <a:endParaRPr lang="en-US" sz="1500" dirty="0"/>
          </a:p>
        </p:txBody>
      </p:sp>
      <p:sp>
        <p:nvSpPr>
          <p:cNvPr id="21" name="Text 18"/>
          <p:cNvSpPr/>
          <p:nvPr/>
        </p:nvSpPr>
        <p:spPr>
          <a:xfrm>
            <a:off x="9802368" y="2057400"/>
            <a:ext cx="1645920" cy="228600"/>
          </a:xfrm>
          <a:prstGeom prst="rect">
            <a:avLst/>
          </a:prstGeom>
          <a:noFill/>
          <a:ln/>
        </p:spPr>
        <p:txBody>
          <a:bodyPr wrap="square" lIns="0" tIns="0" rIns="0" bIns="0" rtlCol="0" anchor="ctr"/>
          <a:lstStyle/>
          <a:p>
            <a:pPr marL="0" indent="0" algn="ctr">
              <a:buNone/>
            </a:pPr>
            <a:r>
              <a:rPr lang="en-US" sz="940" dirty="0">
                <a:solidFill>
                  <a:srgbClr val="B9C9D8"/>
                </a:solidFill>
              </a:rPr>
              <a:t>zwei nahe Entscheidungen</a:t>
            </a:r>
            <a:endParaRPr lang="en-US" sz="940" dirty="0"/>
          </a:p>
        </p:txBody>
      </p:sp>
      <p:sp>
        <p:nvSpPr>
          <p:cNvPr id="22" name="Shape 19"/>
          <p:cNvSpPr/>
          <p:nvPr/>
        </p:nvSpPr>
        <p:spPr>
          <a:xfrm>
            <a:off x="914400" y="3246120"/>
            <a:ext cx="5029200" cy="868680"/>
          </a:xfrm>
          <a:prstGeom prst="roundRect">
            <a:avLst>
              <a:gd name="adj" fmla="val 10526"/>
            </a:avLst>
          </a:prstGeom>
          <a:solidFill>
            <a:srgbClr val="061827">
              <a:alpha val="92000"/>
            </a:srgbClr>
          </a:solidFill>
          <a:ln w="12700">
            <a:solidFill>
              <a:srgbClr val="FFB14E"/>
            </a:solidFill>
            <a:prstDash val="solid"/>
          </a:ln>
        </p:spPr>
        <p:txBody>
          <a:bodyPr/>
          <a:lstStyle/>
          <a:p>
            <a:endParaRPr lang="de-AT"/>
          </a:p>
        </p:txBody>
      </p:sp>
      <p:sp>
        <p:nvSpPr>
          <p:cNvPr id="23" name="Text 20"/>
          <p:cNvSpPr/>
          <p:nvPr/>
        </p:nvSpPr>
        <p:spPr>
          <a:xfrm>
            <a:off x="1042416" y="3355848"/>
            <a:ext cx="4773168" cy="649224"/>
          </a:xfrm>
          <a:prstGeom prst="rect">
            <a:avLst/>
          </a:prstGeom>
          <a:noFill/>
          <a:ln/>
        </p:spPr>
        <p:txBody>
          <a:bodyPr wrap="square" lIns="254" tIns="254" rIns="254" bIns="254" rtlCol="0" anchor="ctr">
            <a:normAutofit/>
          </a:bodyPr>
          <a:lstStyle/>
          <a:p>
            <a:pPr marL="0" indent="0">
              <a:buNone/>
            </a:pPr>
            <a:r>
              <a:rPr lang="en-US" sz="1400" dirty="0">
                <a:solidFill>
                  <a:srgbClr val="F4F8FF"/>
                </a:solidFill>
              </a:rPr>
              <a:t>Mit höherer Schwierigkeit steigen Tunnel und Stacked Muster, die Level werden dichter, die Reaktionszeit wird knapper.</a:t>
            </a:r>
            <a:endParaRPr lang="en-US" sz="1400" dirty="0"/>
          </a:p>
        </p:txBody>
      </p:sp>
      <p:sp>
        <p:nvSpPr>
          <p:cNvPr id="24" name="Shape 21"/>
          <p:cNvSpPr/>
          <p:nvPr/>
        </p:nvSpPr>
        <p:spPr>
          <a:xfrm>
            <a:off x="6537960" y="3154680"/>
            <a:ext cx="4389120" cy="1097280"/>
          </a:xfrm>
          <a:prstGeom prst="roundRect">
            <a:avLst>
              <a:gd name="adj" fmla="val 6667"/>
            </a:avLst>
          </a:prstGeom>
          <a:solidFill>
            <a:srgbClr val="020A12">
              <a:alpha val="98000"/>
            </a:srgbClr>
          </a:solidFill>
          <a:ln w="12700">
            <a:solidFill>
              <a:srgbClr val="2D607F"/>
            </a:solidFill>
            <a:prstDash val="solid"/>
          </a:ln>
        </p:spPr>
        <p:txBody>
          <a:bodyPr/>
          <a:lstStyle/>
          <a:p>
            <a:endParaRPr lang="de-AT"/>
          </a:p>
        </p:txBody>
      </p:sp>
      <p:sp>
        <p:nvSpPr>
          <p:cNvPr id="25" name="Text 22"/>
          <p:cNvSpPr/>
          <p:nvPr/>
        </p:nvSpPr>
        <p:spPr>
          <a:xfrm>
            <a:off x="6675120" y="3255264"/>
            <a:ext cx="4114800" cy="201168"/>
          </a:xfrm>
          <a:prstGeom prst="rect">
            <a:avLst/>
          </a:prstGeom>
          <a:noFill/>
          <a:ln/>
        </p:spPr>
        <p:txBody>
          <a:bodyPr wrap="square" lIns="0" tIns="0" rIns="0" bIns="0" rtlCol="0" anchor="ctr"/>
          <a:lstStyle/>
          <a:p>
            <a:pPr marL="0" indent="0">
              <a:buNone/>
            </a:pPr>
            <a:r>
              <a:rPr lang="en-US" sz="900" b="1" dirty="0">
                <a:solidFill>
                  <a:srgbClr val="6DF7D4"/>
                </a:solidFill>
              </a:rPr>
              <a:t>Gewichtete Musterwahl</a:t>
            </a:r>
            <a:endParaRPr lang="en-US" sz="900" dirty="0"/>
          </a:p>
        </p:txBody>
      </p:sp>
      <p:sp>
        <p:nvSpPr>
          <p:cNvPr id="26" name="Text 23"/>
          <p:cNvSpPr/>
          <p:nvPr/>
        </p:nvSpPr>
        <p:spPr>
          <a:xfrm>
            <a:off x="6684264" y="3538728"/>
            <a:ext cx="4096512" cy="59436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Medium: mehr Tunnel und Stacked</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Hard: noch mehr Tunnel, Stacked, Cluster</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Impossible: höchste Dichte</a:t>
            </a:r>
            <a:endParaRPr lang="en-US" sz="930" dirty="0"/>
          </a:p>
        </p:txBody>
      </p:sp>
      <p:sp>
        <p:nvSpPr>
          <p:cNvPr id="27" name="Shape 24"/>
          <p:cNvSpPr/>
          <p:nvPr/>
        </p:nvSpPr>
        <p:spPr>
          <a:xfrm>
            <a:off x="960120" y="5166360"/>
            <a:ext cx="9784080" cy="0"/>
          </a:xfrm>
          <a:prstGeom prst="line">
            <a:avLst/>
          </a:prstGeom>
          <a:noFill/>
          <a:ln w="12700">
            <a:solidFill>
              <a:srgbClr val="2D5A78"/>
            </a:solidFill>
            <a:prstDash val="solid"/>
            <a:tailEnd type="triangle"/>
          </a:ln>
        </p:spPr>
        <p:txBody>
          <a:bodyPr/>
          <a:lstStyle/>
          <a:p>
            <a:endParaRPr lang="de-AT"/>
          </a:p>
        </p:txBody>
      </p:sp>
      <p:sp>
        <p:nvSpPr>
          <p:cNvPr id="28" name="Text 25"/>
          <p:cNvSpPr/>
          <p:nvPr/>
        </p:nvSpPr>
        <p:spPr>
          <a:xfrm>
            <a:off x="914400" y="5394960"/>
            <a:ext cx="1097280" cy="228600"/>
          </a:xfrm>
          <a:prstGeom prst="rect">
            <a:avLst/>
          </a:prstGeom>
          <a:noFill/>
          <a:ln/>
        </p:spPr>
        <p:txBody>
          <a:bodyPr wrap="square" lIns="0" tIns="0" rIns="0" bIns="0" rtlCol="0" anchor="ctr"/>
          <a:lstStyle/>
          <a:p>
            <a:pPr marL="0" indent="0">
              <a:buNone/>
            </a:pPr>
            <a:r>
              <a:rPr lang="en-US" sz="1200" b="1" dirty="0">
                <a:solidFill>
                  <a:srgbClr val="50E3A4"/>
                </a:solidFill>
              </a:rPr>
              <a:t>Easy</a:t>
            </a:r>
            <a:endParaRPr lang="en-US" sz="1200" dirty="0"/>
          </a:p>
        </p:txBody>
      </p:sp>
      <p:sp>
        <p:nvSpPr>
          <p:cNvPr id="29" name="Text 26"/>
          <p:cNvSpPr/>
          <p:nvPr/>
        </p:nvSpPr>
        <p:spPr>
          <a:xfrm>
            <a:off x="3657600" y="5394960"/>
            <a:ext cx="1097280" cy="228600"/>
          </a:xfrm>
          <a:prstGeom prst="rect">
            <a:avLst/>
          </a:prstGeom>
          <a:noFill/>
          <a:ln/>
        </p:spPr>
        <p:txBody>
          <a:bodyPr wrap="square" lIns="0" tIns="0" rIns="0" bIns="0" rtlCol="0" anchor="ctr"/>
          <a:lstStyle/>
          <a:p>
            <a:pPr marL="0" indent="0">
              <a:buNone/>
            </a:pPr>
            <a:r>
              <a:rPr lang="en-US" sz="1200" b="1" dirty="0">
                <a:solidFill>
                  <a:srgbClr val="3DDCFF"/>
                </a:solidFill>
              </a:rPr>
              <a:t>Medium</a:t>
            </a:r>
            <a:endParaRPr lang="en-US" sz="1200" dirty="0"/>
          </a:p>
        </p:txBody>
      </p:sp>
      <p:sp>
        <p:nvSpPr>
          <p:cNvPr id="30" name="Text 27"/>
          <p:cNvSpPr/>
          <p:nvPr/>
        </p:nvSpPr>
        <p:spPr>
          <a:xfrm>
            <a:off x="6400800" y="5394960"/>
            <a:ext cx="1097280" cy="228600"/>
          </a:xfrm>
          <a:prstGeom prst="rect">
            <a:avLst/>
          </a:prstGeom>
          <a:noFill/>
          <a:ln/>
        </p:spPr>
        <p:txBody>
          <a:bodyPr wrap="square" lIns="0" tIns="0" rIns="0" bIns="0" rtlCol="0" anchor="ctr"/>
          <a:lstStyle/>
          <a:p>
            <a:pPr marL="0" indent="0">
              <a:buNone/>
            </a:pPr>
            <a:r>
              <a:rPr lang="en-US" sz="1200" b="1" dirty="0">
                <a:solidFill>
                  <a:srgbClr val="FFB14E"/>
                </a:solidFill>
              </a:rPr>
              <a:t>Hard</a:t>
            </a:r>
            <a:endParaRPr lang="en-US" sz="1200" dirty="0"/>
          </a:p>
        </p:txBody>
      </p:sp>
      <p:sp>
        <p:nvSpPr>
          <p:cNvPr id="31" name="Text 28"/>
          <p:cNvSpPr/>
          <p:nvPr/>
        </p:nvSpPr>
        <p:spPr>
          <a:xfrm>
            <a:off x="9144000" y="5394960"/>
            <a:ext cx="1097280" cy="228600"/>
          </a:xfrm>
          <a:prstGeom prst="rect">
            <a:avLst/>
          </a:prstGeom>
          <a:noFill/>
          <a:ln/>
        </p:spPr>
        <p:txBody>
          <a:bodyPr wrap="square" lIns="0" tIns="0" rIns="0" bIns="0" rtlCol="0" anchor="ctr"/>
          <a:lstStyle/>
          <a:p>
            <a:pPr marL="0" indent="0">
              <a:buNone/>
            </a:pPr>
            <a:r>
              <a:rPr lang="en-US" sz="1200" b="1" dirty="0">
                <a:solidFill>
                  <a:srgbClr val="FF6B6B"/>
                </a:solidFill>
              </a:rPr>
              <a:t>Impossible</a:t>
            </a:r>
            <a:endParaRPr lang="en-US" sz="1200" dirty="0"/>
          </a:p>
        </p:txBody>
      </p:sp>
      <p:sp>
        <p:nvSpPr>
          <p:cNvPr id="32" name="Text 29"/>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33" name="Text 30"/>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air_imgs/validation.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85000"/>
            </a:srgbClr>
          </a:solidFill>
          <a:ln w="12700">
            <a:solidFill>
              <a:srgbClr val="000B16">
                <a:alpha val="0"/>
              </a:srgbClr>
            </a:solidFill>
            <a:prstDash val="solid"/>
          </a:ln>
        </p:spPr>
        <p:txBody>
          <a:bodyPr/>
          <a:lstStyle/>
          <a:p>
            <a:endParaRPr lang="de-AT"/>
          </a:p>
        </p:txBody>
      </p:sp>
      <p:sp>
        <p:nvSpPr>
          <p:cNvPr id="4" name="Shape 1"/>
          <p:cNvSpPr/>
          <p:nvPr/>
        </p:nvSpPr>
        <p:spPr>
          <a:xfrm>
            <a:off x="0" y="0"/>
            <a:ext cx="12191695" cy="6858000"/>
          </a:xfrm>
          <a:prstGeom prst="rect">
            <a:avLst/>
          </a:prstGeom>
          <a:solidFill>
            <a:srgbClr val="000000">
              <a:alpha val="32000"/>
            </a:srgbClr>
          </a:solidFill>
          <a:ln w="12700">
            <a:solidFill>
              <a:srgbClr val="000000">
                <a:alpha val="0"/>
              </a:srgbClr>
            </a:solidFill>
            <a:prstDash val="solid"/>
          </a:ln>
        </p:spPr>
        <p:txBody>
          <a:bodyPr/>
          <a:lstStyle/>
          <a:p>
            <a:endParaRPr lang="de-AT"/>
          </a:p>
        </p:txBody>
      </p:sp>
      <p:sp>
        <p:nvSpPr>
          <p:cNvPr id="5" name="Text 2"/>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Validator während des Spiels</a:t>
            </a:r>
            <a:endParaRPr lang="en-US" sz="2800" dirty="0"/>
          </a:p>
        </p:txBody>
      </p:sp>
      <p:sp>
        <p:nvSpPr>
          <p:cNvPr id="6" name="Text 3"/>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Ein Hindernis wird in einer Shadow Scene getestet, bevor es echt erscheint</a:t>
            </a:r>
            <a:endParaRPr lang="en-US" sz="1200" dirty="0"/>
          </a:p>
        </p:txBody>
      </p:sp>
      <p:sp>
        <p:nvSpPr>
          <p:cNvPr id="7" name="Shape 4"/>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8" name="Shape 5"/>
          <p:cNvSpPr/>
          <p:nvPr/>
        </p:nvSpPr>
        <p:spPr>
          <a:xfrm>
            <a:off x="822960" y="1417320"/>
            <a:ext cx="3200400" cy="868680"/>
          </a:xfrm>
          <a:prstGeom prst="roundRect">
            <a:avLst>
              <a:gd name="adj" fmla="val 11579"/>
            </a:avLst>
          </a:prstGeom>
          <a:solidFill>
            <a:srgbClr val="0E2537">
              <a:alpha val="97000"/>
            </a:srgbClr>
          </a:solidFill>
          <a:ln w="12700">
            <a:solidFill>
              <a:srgbClr val="3DDCFF"/>
            </a:solidFill>
            <a:prstDash val="solid"/>
          </a:ln>
        </p:spPr>
        <p:txBody>
          <a:bodyPr/>
          <a:lstStyle/>
          <a:p>
            <a:endParaRPr lang="de-AT"/>
          </a:p>
        </p:txBody>
      </p:sp>
      <p:sp>
        <p:nvSpPr>
          <p:cNvPr id="9" name="Shape 6"/>
          <p:cNvSpPr/>
          <p:nvPr/>
        </p:nvSpPr>
        <p:spPr>
          <a:xfrm>
            <a:off x="932688" y="1572768"/>
            <a:ext cx="530352" cy="530352"/>
          </a:xfrm>
          <a:prstGeom prst="ellipse">
            <a:avLst/>
          </a:prstGeom>
          <a:solidFill>
            <a:srgbClr val="3DDCFF"/>
          </a:solidFill>
          <a:ln w="12700">
            <a:solidFill>
              <a:srgbClr val="3DDCFF">
                <a:alpha val="0"/>
              </a:srgbClr>
            </a:solidFill>
            <a:prstDash val="solid"/>
          </a:ln>
        </p:spPr>
        <p:txBody>
          <a:bodyPr/>
          <a:lstStyle/>
          <a:p>
            <a:endParaRPr lang="de-AT"/>
          </a:p>
        </p:txBody>
      </p:sp>
      <p:sp>
        <p:nvSpPr>
          <p:cNvPr id="10" name="Text 7"/>
          <p:cNvSpPr/>
          <p:nvPr/>
        </p:nvSpPr>
        <p:spPr>
          <a:xfrm>
            <a:off x="932688" y="168249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1</a:t>
            </a:r>
            <a:endParaRPr lang="en-US" sz="1200" dirty="0"/>
          </a:p>
        </p:txBody>
      </p:sp>
      <p:sp>
        <p:nvSpPr>
          <p:cNvPr id="11" name="Text 8"/>
          <p:cNvSpPr/>
          <p:nvPr/>
        </p:nvSpPr>
        <p:spPr>
          <a:xfrm>
            <a:off x="1572768" y="1545336"/>
            <a:ext cx="2331720" cy="228600"/>
          </a:xfrm>
          <a:prstGeom prst="rect">
            <a:avLst/>
          </a:prstGeom>
          <a:noFill/>
          <a:ln/>
        </p:spPr>
        <p:txBody>
          <a:bodyPr wrap="square" lIns="0" tIns="0" rIns="0" bIns="0" rtlCol="0" anchor="ctr"/>
          <a:lstStyle/>
          <a:p>
            <a:pPr marL="0" indent="0">
              <a:buNone/>
            </a:pPr>
            <a:r>
              <a:rPr lang="en-US" sz="1500" b="1" dirty="0" err="1">
                <a:solidFill>
                  <a:srgbClr val="F4F8FF"/>
                </a:solidFill>
              </a:rPr>
              <a:t>Kopie</a:t>
            </a:r>
            <a:r>
              <a:rPr lang="en-US" sz="1500" b="1" dirty="0">
                <a:solidFill>
                  <a:srgbClr val="F4F8FF"/>
                </a:solidFill>
              </a:rPr>
              <a:t> des </a:t>
            </a:r>
            <a:r>
              <a:rPr lang="en-US" sz="1500" b="1" dirty="0" err="1">
                <a:solidFill>
                  <a:srgbClr val="F4F8FF"/>
                </a:solidFill>
              </a:rPr>
              <a:t>Zustands</a:t>
            </a:r>
            <a:endParaRPr lang="en-US" sz="1500" dirty="0"/>
          </a:p>
        </p:txBody>
      </p:sp>
      <p:sp>
        <p:nvSpPr>
          <p:cNvPr id="12" name="Text 9"/>
          <p:cNvSpPr/>
          <p:nvPr/>
        </p:nvSpPr>
        <p:spPr>
          <a:xfrm>
            <a:off x="1572768" y="1856232"/>
            <a:ext cx="233172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Agent, Boden, Decke, Hindernisse</a:t>
            </a:r>
            <a:endParaRPr lang="en-US" sz="1020" dirty="0"/>
          </a:p>
        </p:txBody>
      </p:sp>
      <p:sp>
        <p:nvSpPr>
          <p:cNvPr id="13" name="Shape 10"/>
          <p:cNvSpPr/>
          <p:nvPr/>
        </p:nvSpPr>
        <p:spPr>
          <a:xfrm>
            <a:off x="4480560" y="1417320"/>
            <a:ext cx="3200400" cy="868680"/>
          </a:xfrm>
          <a:prstGeom prst="roundRect">
            <a:avLst>
              <a:gd name="adj" fmla="val 11579"/>
            </a:avLst>
          </a:prstGeom>
          <a:solidFill>
            <a:srgbClr val="0E2537">
              <a:alpha val="97000"/>
            </a:srgbClr>
          </a:solidFill>
          <a:ln w="12700">
            <a:solidFill>
              <a:srgbClr val="50E3A4"/>
            </a:solidFill>
            <a:prstDash val="solid"/>
          </a:ln>
        </p:spPr>
        <p:txBody>
          <a:bodyPr/>
          <a:lstStyle/>
          <a:p>
            <a:endParaRPr lang="de-AT"/>
          </a:p>
        </p:txBody>
      </p:sp>
      <p:sp>
        <p:nvSpPr>
          <p:cNvPr id="14" name="Shape 11"/>
          <p:cNvSpPr/>
          <p:nvPr/>
        </p:nvSpPr>
        <p:spPr>
          <a:xfrm>
            <a:off x="4590288" y="1572768"/>
            <a:ext cx="530352" cy="530352"/>
          </a:xfrm>
          <a:prstGeom prst="ellipse">
            <a:avLst/>
          </a:prstGeom>
          <a:solidFill>
            <a:srgbClr val="50E3A4"/>
          </a:solidFill>
          <a:ln w="12700">
            <a:solidFill>
              <a:srgbClr val="50E3A4">
                <a:alpha val="0"/>
              </a:srgbClr>
            </a:solidFill>
            <a:prstDash val="solid"/>
          </a:ln>
        </p:spPr>
        <p:txBody>
          <a:bodyPr/>
          <a:lstStyle/>
          <a:p>
            <a:endParaRPr lang="de-AT"/>
          </a:p>
        </p:txBody>
      </p:sp>
      <p:sp>
        <p:nvSpPr>
          <p:cNvPr id="15" name="Text 12"/>
          <p:cNvSpPr/>
          <p:nvPr/>
        </p:nvSpPr>
        <p:spPr>
          <a:xfrm>
            <a:off x="4590288" y="168249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2</a:t>
            </a:r>
            <a:endParaRPr lang="en-US" sz="1200" dirty="0"/>
          </a:p>
        </p:txBody>
      </p:sp>
      <p:sp>
        <p:nvSpPr>
          <p:cNvPr id="16" name="Text 13"/>
          <p:cNvSpPr/>
          <p:nvPr/>
        </p:nvSpPr>
        <p:spPr>
          <a:xfrm>
            <a:off x="5230368" y="1545336"/>
            <a:ext cx="2331720" cy="228600"/>
          </a:xfrm>
          <a:prstGeom prst="rect">
            <a:avLst/>
          </a:prstGeom>
          <a:noFill/>
          <a:ln/>
        </p:spPr>
        <p:txBody>
          <a:bodyPr wrap="square" lIns="0" tIns="0" rIns="0" bIns="0" rtlCol="0" anchor="ctr"/>
          <a:lstStyle/>
          <a:p>
            <a:pPr marL="0" indent="0">
              <a:buNone/>
            </a:pPr>
            <a:r>
              <a:rPr lang="en-US" sz="1500" b="1" dirty="0">
                <a:solidFill>
                  <a:srgbClr val="F4F8FF"/>
                </a:solidFill>
              </a:rPr>
              <a:t>Schnellsimulation</a:t>
            </a:r>
            <a:endParaRPr lang="en-US" sz="1500" dirty="0"/>
          </a:p>
        </p:txBody>
      </p:sp>
      <p:sp>
        <p:nvSpPr>
          <p:cNvPr id="17" name="Text 14"/>
          <p:cNvSpPr/>
          <p:nvPr/>
        </p:nvSpPr>
        <p:spPr>
          <a:xfrm>
            <a:off x="5230368" y="1856232"/>
            <a:ext cx="233172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mehrere Testhöhen und Sprungfolgen</a:t>
            </a:r>
            <a:endParaRPr lang="en-US" sz="1020" dirty="0"/>
          </a:p>
        </p:txBody>
      </p:sp>
      <p:sp>
        <p:nvSpPr>
          <p:cNvPr id="18" name="Shape 15"/>
          <p:cNvSpPr/>
          <p:nvPr/>
        </p:nvSpPr>
        <p:spPr>
          <a:xfrm>
            <a:off x="8138160" y="1417320"/>
            <a:ext cx="3200400" cy="868680"/>
          </a:xfrm>
          <a:prstGeom prst="roundRect">
            <a:avLst>
              <a:gd name="adj" fmla="val 11579"/>
            </a:avLst>
          </a:prstGeom>
          <a:solidFill>
            <a:srgbClr val="0E2537">
              <a:alpha val="97000"/>
            </a:srgbClr>
          </a:solidFill>
          <a:ln w="12700">
            <a:solidFill>
              <a:srgbClr val="FFB14E"/>
            </a:solidFill>
            <a:prstDash val="solid"/>
          </a:ln>
        </p:spPr>
        <p:txBody>
          <a:bodyPr/>
          <a:lstStyle/>
          <a:p>
            <a:endParaRPr lang="de-AT"/>
          </a:p>
        </p:txBody>
      </p:sp>
      <p:sp>
        <p:nvSpPr>
          <p:cNvPr id="19" name="Shape 16"/>
          <p:cNvSpPr/>
          <p:nvPr/>
        </p:nvSpPr>
        <p:spPr>
          <a:xfrm>
            <a:off x="8247888" y="1572768"/>
            <a:ext cx="530352" cy="530352"/>
          </a:xfrm>
          <a:prstGeom prst="ellipse">
            <a:avLst/>
          </a:prstGeom>
          <a:solidFill>
            <a:srgbClr val="FFB14E"/>
          </a:solidFill>
          <a:ln w="12700">
            <a:solidFill>
              <a:srgbClr val="FFB14E">
                <a:alpha val="0"/>
              </a:srgbClr>
            </a:solidFill>
            <a:prstDash val="solid"/>
          </a:ln>
        </p:spPr>
        <p:txBody>
          <a:bodyPr/>
          <a:lstStyle/>
          <a:p>
            <a:endParaRPr lang="de-AT"/>
          </a:p>
        </p:txBody>
      </p:sp>
      <p:sp>
        <p:nvSpPr>
          <p:cNvPr id="20" name="Text 17"/>
          <p:cNvSpPr/>
          <p:nvPr/>
        </p:nvSpPr>
        <p:spPr>
          <a:xfrm>
            <a:off x="8247888" y="168249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3</a:t>
            </a:r>
            <a:endParaRPr lang="en-US" sz="1200" dirty="0"/>
          </a:p>
        </p:txBody>
      </p:sp>
      <p:sp>
        <p:nvSpPr>
          <p:cNvPr id="21" name="Text 18"/>
          <p:cNvSpPr/>
          <p:nvPr/>
        </p:nvSpPr>
        <p:spPr>
          <a:xfrm>
            <a:off x="8887968" y="1545336"/>
            <a:ext cx="2331720" cy="228600"/>
          </a:xfrm>
          <a:prstGeom prst="rect">
            <a:avLst/>
          </a:prstGeom>
          <a:noFill/>
          <a:ln/>
        </p:spPr>
        <p:txBody>
          <a:bodyPr wrap="square" lIns="0" tIns="0" rIns="0" bIns="0" rtlCol="0" anchor="ctr"/>
          <a:lstStyle/>
          <a:p>
            <a:pPr marL="0" indent="0">
              <a:buNone/>
            </a:pPr>
            <a:r>
              <a:rPr lang="en-US" sz="1500" b="1" dirty="0">
                <a:solidFill>
                  <a:srgbClr val="F4F8FF"/>
                </a:solidFill>
              </a:rPr>
              <a:t>Entscheidung</a:t>
            </a:r>
            <a:endParaRPr lang="en-US" sz="1500" dirty="0"/>
          </a:p>
        </p:txBody>
      </p:sp>
      <p:sp>
        <p:nvSpPr>
          <p:cNvPr id="22" name="Text 19"/>
          <p:cNvSpPr/>
          <p:nvPr/>
        </p:nvSpPr>
        <p:spPr>
          <a:xfrm>
            <a:off x="8887968" y="1856232"/>
            <a:ext cx="2331720" cy="256032"/>
          </a:xfrm>
          <a:prstGeom prst="rect">
            <a:avLst/>
          </a:prstGeom>
          <a:noFill/>
          <a:ln/>
        </p:spPr>
        <p:txBody>
          <a:bodyPr wrap="square" lIns="0" tIns="0" rIns="0" bIns="0" rtlCol="0" anchor="ctr">
            <a:normAutofit/>
          </a:bodyPr>
          <a:lstStyle/>
          <a:p>
            <a:pPr marL="0" indent="0">
              <a:buNone/>
            </a:pPr>
            <a:r>
              <a:rPr lang="en-US" sz="1020" dirty="0">
                <a:solidFill>
                  <a:srgbClr val="B9C9D8"/>
                </a:solidFill>
              </a:rPr>
              <a:t>spawn oder verwerfen</a:t>
            </a:r>
            <a:endParaRPr lang="en-US" sz="1020" dirty="0"/>
          </a:p>
        </p:txBody>
      </p:sp>
      <p:sp>
        <p:nvSpPr>
          <p:cNvPr id="25" name="Text 22"/>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6" name="Text 23"/>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2000"/>
            </a:srgbClr>
          </a:solidFill>
          <a:ln w="12700">
            <a:solidFill>
              <a:srgbClr val="000B16">
                <a:alpha val="0"/>
              </a:srgbClr>
            </a:solidFill>
            <a:prstDash val="solid"/>
          </a:ln>
        </p:spPr>
        <p:txBody>
          <a:bodyPr/>
          <a:lstStyle/>
          <a:p>
            <a:endParaRPr lang="de-AT" dirty="0"/>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ea typeface="Aptos Display" pitchFamily="34" charset="-122"/>
                <a:cs typeface="Aptos Display" pitchFamily="34" charset="-120"/>
              </a:rPr>
              <a:t>Wie testet der Validator konkret?</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a:solidFill>
                  <a:srgbClr val="B9C9D8"/>
                </a:solidFill>
              </a:rPr>
              <a:t>Regelbasierte Shadow Simulation mit mehreren Zielhöhen</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822960" y="1417320"/>
            <a:ext cx="5029200" cy="2331720"/>
          </a:xfrm>
          <a:prstGeom prst="roundRect">
            <a:avLst>
              <a:gd name="adj" fmla="val 3137"/>
            </a:avLst>
          </a:prstGeom>
          <a:solidFill>
            <a:srgbClr val="020A12">
              <a:alpha val="98000"/>
            </a:srgbClr>
          </a:solidFill>
          <a:ln w="12700">
            <a:solidFill>
              <a:srgbClr val="2D607F"/>
            </a:solidFill>
            <a:prstDash val="solid"/>
          </a:ln>
        </p:spPr>
        <p:txBody>
          <a:bodyPr/>
          <a:lstStyle/>
          <a:p>
            <a:endParaRPr lang="de-AT"/>
          </a:p>
        </p:txBody>
      </p:sp>
      <p:sp>
        <p:nvSpPr>
          <p:cNvPr id="8" name="Text 5"/>
          <p:cNvSpPr/>
          <p:nvPr/>
        </p:nvSpPr>
        <p:spPr>
          <a:xfrm>
            <a:off x="960120" y="1517904"/>
            <a:ext cx="4754880" cy="201168"/>
          </a:xfrm>
          <a:prstGeom prst="rect">
            <a:avLst/>
          </a:prstGeom>
          <a:noFill/>
          <a:ln/>
        </p:spPr>
        <p:txBody>
          <a:bodyPr wrap="square" lIns="0" tIns="0" rIns="0" bIns="0" rtlCol="0" anchor="ctr"/>
          <a:lstStyle/>
          <a:p>
            <a:pPr marL="0" indent="0">
              <a:buNone/>
            </a:pPr>
            <a:r>
              <a:rPr lang="en-US" sz="900" b="1" dirty="0">
                <a:solidFill>
                  <a:srgbClr val="6DF7D4"/>
                </a:solidFill>
              </a:rPr>
              <a:t>Validierungsprinzip</a:t>
            </a:r>
            <a:endParaRPr lang="en-US" sz="900" dirty="0"/>
          </a:p>
        </p:txBody>
      </p:sp>
      <p:sp>
        <p:nvSpPr>
          <p:cNvPr id="9" name="Text 6"/>
          <p:cNvSpPr/>
          <p:nvPr/>
        </p:nvSpPr>
        <p:spPr>
          <a:xfrm>
            <a:off x="969264" y="1801368"/>
            <a:ext cx="4736592" cy="1828800"/>
          </a:xfrm>
          <a:prstGeom prst="rect">
            <a:avLst/>
          </a:prstGeom>
          <a:noFill/>
          <a:ln/>
        </p:spPr>
        <p:txBody>
          <a:bodyPr wrap="square" lIns="0" tIns="0" rIns="0" bIns="0" rtlCol="0" anchor="ctr">
            <a:normAutofit/>
          </a:bodyPr>
          <a:lstStyle/>
          <a:p>
            <a:pPr marL="0" indent="0">
              <a:buNone/>
            </a:pPr>
            <a:r>
              <a:rPr lang="en-US" sz="930" dirty="0">
                <a:solidFill>
                  <a:srgbClr val="D9F2FF"/>
                </a:solidFill>
                <a:latin typeface="Aptos Mono" pitchFamily="34" charset="0"/>
                <a:ea typeface="Aptos Mono" pitchFamily="34" charset="-122"/>
                <a:cs typeface="Aptos Mono" pitchFamily="34" charset="-120"/>
              </a:rPr>
              <a:t>testHeights = { -4, -1.5, 2.5, 6.5, 9 }</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fixedDeltaTime = 0.02</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maxSteps = 400</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jumpCooldown = 0.2</a:t>
            </a:r>
            <a:endParaRPr lang="en-US" sz="930" dirty="0"/>
          </a:p>
          <a:p>
            <a:pPr marL="0" indent="0">
              <a:buNone/>
            </a:pP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if agent passes sequence:</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    success = true</a:t>
            </a:r>
            <a:endParaRPr lang="en-US" sz="930" dirty="0"/>
          </a:p>
        </p:txBody>
      </p:sp>
      <p:sp>
        <p:nvSpPr>
          <p:cNvPr id="10" name="Shape 7"/>
          <p:cNvSpPr/>
          <p:nvPr/>
        </p:nvSpPr>
        <p:spPr>
          <a:xfrm>
            <a:off x="6492240" y="1417320"/>
            <a:ext cx="4663440" cy="2834640"/>
          </a:xfrm>
          <a:prstGeom prst="rect">
            <a:avLst/>
          </a:prstGeom>
          <a:solidFill>
            <a:srgbClr val="020A12">
              <a:alpha val="95000"/>
            </a:srgbClr>
          </a:solidFill>
          <a:ln w="12700">
            <a:solidFill>
              <a:srgbClr val="2D5A78"/>
            </a:solidFill>
            <a:prstDash val="solid"/>
          </a:ln>
        </p:spPr>
        <p:txBody>
          <a:bodyPr/>
          <a:lstStyle/>
          <a:p>
            <a:endParaRPr lang="de-AT"/>
          </a:p>
        </p:txBody>
      </p:sp>
      <p:sp>
        <p:nvSpPr>
          <p:cNvPr id="11" name="Shape 8"/>
          <p:cNvSpPr/>
          <p:nvPr/>
        </p:nvSpPr>
        <p:spPr>
          <a:xfrm>
            <a:off x="6720840" y="3886200"/>
            <a:ext cx="4206240" cy="0"/>
          </a:xfrm>
          <a:prstGeom prst="line">
            <a:avLst/>
          </a:prstGeom>
          <a:noFill/>
          <a:ln w="12700">
            <a:solidFill>
              <a:srgbClr val="55718B"/>
            </a:solidFill>
            <a:prstDash val="solid"/>
          </a:ln>
        </p:spPr>
        <p:txBody>
          <a:bodyPr/>
          <a:lstStyle/>
          <a:p>
            <a:endParaRPr lang="de-AT"/>
          </a:p>
        </p:txBody>
      </p:sp>
      <p:sp>
        <p:nvSpPr>
          <p:cNvPr id="12" name="Shape 9"/>
          <p:cNvSpPr/>
          <p:nvPr/>
        </p:nvSpPr>
        <p:spPr>
          <a:xfrm>
            <a:off x="6720840" y="1737360"/>
            <a:ext cx="4206240" cy="0"/>
          </a:xfrm>
          <a:prstGeom prst="line">
            <a:avLst/>
          </a:prstGeom>
          <a:noFill/>
          <a:ln w="12700">
            <a:solidFill>
              <a:srgbClr val="55718B"/>
            </a:solidFill>
            <a:prstDash val="solid"/>
          </a:ln>
        </p:spPr>
        <p:txBody>
          <a:bodyPr/>
          <a:lstStyle/>
          <a:p>
            <a:endParaRPr lang="de-AT"/>
          </a:p>
        </p:txBody>
      </p:sp>
      <p:sp>
        <p:nvSpPr>
          <p:cNvPr id="13" name="Shape 10"/>
          <p:cNvSpPr/>
          <p:nvPr/>
        </p:nvSpPr>
        <p:spPr>
          <a:xfrm>
            <a:off x="6903720" y="2926080"/>
            <a:ext cx="256032" cy="256032"/>
          </a:xfrm>
          <a:prstGeom prst="ellipse">
            <a:avLst/>
          </a:prstGeom>
          <a:solidFill>
            <a:srgbClr val="3DDCFF"/>
          </a:solidFill>
          <a:ln w="12700">
            <a:solidFill>
              <a:srgbClr val="3DDCFF"/>
            </a:solidFill>
            <a:prstDash val="solid"/>
          </a:ln>
        </p:spPr>
        <p:txBody>
          <a:bodyPr/>
          <a:lstStyle/>
          <a:p>
            <a:endParaRPr lang="de-AT"/>
          </a:p>
        </p:txBody>
      </p:sp>
      <p:sp>
        <p:nvSpPr>
          <p:cNvPr id="14" name="Shape 11"/>
          <p:cNvSpPr/>
          <p:nvPr/>
        </p:nvSpPr>
        <p:spPr>
          <a:xfrm>
            <a:off x="7159752" y="3035807"/>
            <a:ext cx="2298880" cy="850391"/>
          </a:xfrm>
          <a:prstGeom prst="line">
            <a:avLst/>
          </a:prstGeom>
          <a:noFill/>
          <a:ln w="12700">
            <a:solidFill>
              <a:srgbClr val="50E3A4"/>
            </a:solidFill>
            <a:prstDash val="solid"/>
            <a:tailEnd type="triangle"/>
          </a:ln>
        </p:spPr>
        <p:txBody>
          <a:bodyPr/>
          <a:lstStyle/>
          <a:p>
            <a:endParaRPr lang="de-AT"/>
          </a:p>
        </p:txBody>
      </p:sp>
      <p:sp>
        <p:nvSpPr>
          <p:cNvPr id="15" name="Shape 12"/>
          <p:cNvSpPr/>
          <p:nvPr/>
        </p:nvSpPr>
        <p:spPr>
          <a:xfrm>
            <a:off x="9281160" y="1920240"/>
            <a:ext cx="594360" cy="1600197"/>
          </a:xfrm>
          <a:prstGeom prst="rect">
            <a:avLst/>
          </a:prstGeom>
          <a:solidFill>
            <a:srgbClr val="54636F"/>
          </a:solidFill>
          <a:ln w="12700">
            <a:solidFill>
              <a:srgbClr val="FFB14E"/>
            </a:solidFill>
            <a:prstDash val="solid"/>
          </a:ln>
        </p:spPr>
        <p:txBody>
          <a:bodyPr/>
          <a:lstStyle/>
          <a:p>
            <a:endParaRPr lang="de-AT"/>
          </a:p>
        </p:txBody>
      </p:sp>
      <p:sp>
        <p:nvSpPr>
          <p:cNvPr id="16" name="Text 13"/>
          <p:cNvSpPr/>
          <p:nvPr/>
        </p:nvSpPr>
        <p:spPr>
          <a:xfrm>
            <a:off x="7498080" y="1874520"/>
            <a:ext cx="1737360" cy="411480"/>
          </a:xfrm>
          <a:prstGeom prst="rect">
            <a:avLst/>
          </a:prstGeom>
          <a:noFill/>
          <a:ln/>
        </p:spPr>
        <p:txBody>
          <a:bodyPr wrap="square" lIns="0" tIns="0" rIns="0" bIns="0" rtlCol="0" anchor="ctr"/>
          <a:lstStyle/>
          <a:p>
            <a:pPr marL="0" indent="0">
              <a:buNone/>
            </a:pPr>
            <a:r>
              <a:rPr lang="en-US" sz="1100" dirty="0">
                <a:solidFill>
                  <a:srgbClr val="50E3A4"/>
                </a:solidFill>
              </a:rPr>
              <a:t>simulierte</a:t>
            </a:r>
            <a:endParaRPr lang="en-US" sz="1100" dirty="0"/>
          </a:p>
          <a:p>
            <a:pPr marL="0" indent="0">
              <a:buNone/>
            </a:pPr>
            <a:r>
              <a:rPr lang="en-US" sz="1100" dirty="0">
                <a:solidFill>
                  <a:srgbClr val="50E3A4"/>
                </a:solidFill>
              </a:rPr>
              <a:t>Flugbahn</a:t>
            </a:r>
            <a:endParaRPr lang="en-US" sz="1100" dirty="0"/>
          </a:p>
        </p:txBody>
      </p:sp>
      <p:sp>
        <p:nvSpPr>
          <p:cNvPr id="17" name="Text 14"/>
          <p:cNvSpPr/>
          <p:nvPr/>
        </p:nvSpPr>
        <p:spPr>
          <a:xfrm>
            <a:off x="9144000" y="3913632"/>
            <a:ext cx="1005840" cy="201168"/>
          </a:xfrm>
          <a:prstGeom prst="rect">
            <a:avLst/>
          </a:prstGeom>
          <a:noFill/>
          <a:ln/>
        </p:spPr>
        <p:txBody>
          <a:bodyPr wrap="square" lIns="0" tIns="0" rIns="0" bIns="0" rtlCol="0" anchor="ctr"/>
          <a:lstStyle/>
          <a:p>
            <a:pPr marL="0" indent="0" algn="ctr">
              <a:buNone/>
            </a:pPr>
            <a:r>
              <a:rPr lang="en-US" sz="1000" dirty="0">
                <a:solidFill>
                  <a:srgbClr val="FFB14E"/>
                </a:solidFill>
              </a:rPr>
              <a:t>Hindernis</a:t>
            </a:r>
            <a:endParaRPr lang="en-US" sz="1000" dirty="0"/>
          </a:p>
        </p:txBody>
      </p:sp>
      <p:sp>
        <p:nvSpPr>
          <p:cNvPr id="20" name="Text 17"/>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1" name="Text 18"/>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10</a:t>
            </a:r>
            <a:endParaRPr lang="en-US" sz="900" dirty="0"/>
          </a:p>
        </p:txBody>
      </p:sp>
      <p:sp>
        <p:nvSpPr>
          <p:cNvPr id="22" name="Shape 11">
            <a:extLst>
              <a:ext uri="{FF2B5EF4-FFF2-40B4-BE49-F238E27FC236}">
                <a16:creationId xmlns:a16="http://schemas.microsoft.com/office/drawing/2014/main" id="{8CCDFE84-A038-912B-ADE1-ED852653B2E1}"/>
              </a:ext>
            </a:extLst>
          </p:cNvPr>
          <p:cNvSpPr/>
          <p:nvPr/>
        </p:nvSpPr>
        <p:spPr>
          <a:xfrm flipV="1">
            <a:off x="9458632" y="3428999"/>
            <a:ext cx="1258528" cy="429763"/>
          </a:xfrm>
          <a:prstGeom prst="line">
            <a:avLst/>
          </a:prstGeom>
          <a:noFill/>
          <a:ln w="12700">
            <a:solidFill>
              <a:srgbClr val="50E3A4"/>
            </a:solidFill>
            <a:prstDash val="solid"/>
            <a:tailEnd type="triangle"/>
          </a:ln>
        </p:spPr>
        <p:txBody>
          <a:bodyPr/>
          <a:lstStyle/>
          <a:p>
            <a:endParaRPr lang="de-AT"/>
          </a:p>
        </p:txBody>
      </p:sp>
      <p:sp>
        <p:nvSpPr>
          <p:cNvPr id="18" name="Shape 11">
            <a:extLst>
              <a:ext uri="{FF2B5EF4-FFF2-40B4-BE49-F238E27FC236}">
                <a16:creationId xmlns:a16="http://schemas.microsoft.com/office/drawing/2014/main" id="{D2FC287F-0089-A85C-F760-E84324EBBA7B}"/>
              </a:ext>
            </a:extLst>
          </p:cNvPr>
          <p:cNvSpPr/>
          <p:nvPr/>
        </p:nvSpPr>
        <p:spPr>
          <a:xfrm flipV="1">
            <a:off x="7159752" y="2240279"/>
            <a:ext cx="1005840" cy="822962"/>
          </a:xfrm>
          <a:prstGeom prst="line">
            <a:avLst/>
          </a:prstGeom>
          <a:noFill/>
          <a:ln w="12700">
            <a:solidFill>
              <a:srgbClr val="50E3A4"/>
            </a:solidFill>
            <a:prstDash val="solid"/>
            <a:tailEnd type="triangle"/>
          </a:ln>
        </p:spPr>
        <p:txBody>
          <a:bodyPr/>
          <a:lstStyle/>
          <a:p>
            <a:endParaRPr lang="de-AT"/>
          </a:p>
        </p:txBody>
      </p:sp>
      <p:sp>
        <p:nvSpPr>
          <p:cNvPr id="19" name="Shape 11">
            <a:extLst>
              <a:ext uri="{FF2B5EF4-FFF2-40B4-BE49-F238E27FC236}">
                <a16:creationId xmlns:a16="http://schemas.microsoft.com/office/drawing/2014/main" id="{2EE55430-81AB-111A-71F3-BB24E366B15F}"/>
              </a:ext>
            </a:extLst>
          </p:cNvPr>
          <p:cNvSpPr/>
          <p:nvPr/>
        </p:nvSpPr>
        <p:spPr>
          <a:xfrm>
            <a:off x="8165592" y="2267712"/>
            <a:ext cx="1005840" cy="982979"/>
          </a:xfrm>
          <a:prstGeom prst="line">
            <a:avLst/>
          </a:prstGeom>
          <a:noFill/>
          <a:ln w="12700">
            <a:solidFill>
              <a:srgbClr val="FF0000"/>
            </a:solidFill>
            <a:prstDash val="solid"/>
            <a:tailEnd type="triangle"/>
          </a:ln>
        </p:spPr>
        <p:txBody>
          <a:bodyPr/>
          <a:lstStyle/>
          <a:p>
            <a:endParaRPr lang="de-AT"/>
          </a:p>
        </p:txBody>
      </p:sp>
      <p:sp>
        <p:nvSpPr>
          <p:cNvPr id="23" name="Shape 11">
            <a:extLst>
              <a:ext uri="{FF2B5EF4-FFF2-40B4-BE49-F238E27FC236}">
                <a16:creationId xmlns:a16="http://schemas.microsoft.com/office/drawing/2014/main" id="{C647D98A-77D4-B49C-AA73-F58FEEFC0CF1}"/>
              </a:ext>
            </a:extLst>
          </p:cNvPr>
          <p:cNvSpPr/>
          <p:nvPr/>
        </p:nvSpPr>
        <p:spPr>
          <a:xfrm flipV="1">
            <a:off x="7129577" y="2578606"/>
            <a:ext cx="871423" cy="512067"/>
          </a:xfrm>
          <a:prstGeom prst="line">
            <a:avLst/>
          </a:prstGeom>
          <a:noFill/>
          <a:ln w="12700">
            <a:solidFill>
              <a:srgbClr val="50E3A4"/>
            </a:solidFill>
            <a:prstDash val="solid"/>
            <a:tailEnd type="triangle"/>
          </a:ln>
        </p:spPr>
        <p:txBody>
          <a:bodyPr/>
          <a:lstStyle/>
          <a:p>
            <a:endParaRPr lang="de-AT"/>
          </a:p>
        </p:txBody>
      </p:sp>
      <p:sp>
        <p:nvSpPr>
          <p:cNvPr id="24" name="Shape 11">
            <a:extLst>
              <a:ext uri="{FF2B5EF4-FFF2-40B4-BE49-F238E27FC236}">
                <a16:creationId xmlns:a16="http://schemas.microsoft.com/office/drawing/2014/main" id="{0E3705E2-5303-1711-1A3D-0CB5009D205C}"/>
              </a:ext>
            </a:extLst>
          </p:cNvPr>
          <p:cNvSpPr/>
          <p:nvPr/>
        </p:nvSpPr>
        <p:spPr>
          <a:xfrm flipV="1">
            <a:off x="8055864" y="2135124"/>
            <a:ext cx="621792" cy="411480"/>
          </a:xfrm>
          <a:prstGeom prst="line">
            <a:avLst/>
          </a:prstGeom>
          <a:noFill/>
          <a:ln w="12700">
            <a:solidFill>
              <a:srgbClr val="50E3A4"/>
            </a:solidFill>
            <a:prstDash val="solid"/>
            <a:tailEnd type="triangle"/>
          </a:ln>
        </p:spPr>
        <p:txBody>
          <a:bodyPr/>
          <a:lstStyle/>
          <a:p>
            <a:endParaRPr lang="de-AT"/>
          </a:p>
        </p:txBody>
      </p:sp>
      <p:sp>
        <p:nvSpPr>
          <p:cNvPr id="25" name="Shape 11">
            <a:extLst>
              <a:ext uri="{FF2B5EF4-FFF2-40B4-BE49-F238E27FC236}">
                <a16:creationId xmlns:a16="http://schemas.microsoft.com/office/drawing/2014/main" id="{53CC15F2-3521-5E44-077D-868A1AF8A172}"/>
              </a:ext>
            </a:extLst>
          </p:cNvPr>
          <p:cNvSpPr/>
          <p:nvPr/>
        </p:nvSpPr>
        <p:spPr>
          <a:xfrm>
            <a:off x="8723376" y="2194562"/>
            <a:ext cx="512064" cy="548639"/>
          </a:xfrm>
          <a:prstGeom prst="line">
            <a:avLst/>
          </a:prstGeom>
          <a:noFill/>
          <a:ln w="12700">
            <a:solidFill>
              <a:srgbClr val="FF0000"/>
            </a:solidFill>
            <a:prstDash val="solid"/>
            <a:tailEnd type="triangle"/>
          </a:ln>
        </p:spPr>
        <p:txBody>
          <a:bodyPr/>
          <a:lstStyle/>
          <a:p>
            <a:endParaRPr lang="de-A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air_imgs/bg.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B16">
              <a:alpha val="50000"/>
            </a:srgbClr>
          </a:solidFill>
          <a:ln w="12700">
            <a:solidFill>
              <a:srgbClr val="000B16">
                <a:alpha val="0"/>
              </a:srgbClr>
            </a:solidFill>
            <a:prstDash val="solid"/>
          </a:ln>
        </p:spPr>
        <p:txBody>
          <a:bodyPr/>
          <a:lstStyle/>
          <a:p>
            <a:endParaRPr lang="de-AT"/>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err="1">
                <a:solidFill>
                  <a:srgbClr val="F4F8FF"/>
                </a:solidFill>
                <a:latin typeface="Aptos Display" pitchFamily="34" charset="0"/>
                <a:ea typeface="Aptos Display" pitchFamily="34" charset="-122"/>
                <a:cs typeface="Aptos Display" pitchFamily="34" charset="-120"/>
              </a:rPr>
              <a:t>Beispielablauf</a:t>
            </a:r>
            <a:r>
              <a:rPr lang="en-US" sz="2800" b="1" dirty="0">
                <a:solidFill>
                  <a:srgbClr val="F4F8FF"/>
                </a:solidFill>
                <a:latin typeface="Aptos Display" pitchFamily="34" charset="0"/>
                <a:ea typeface="Aptos Display" pitchFamily="34" charset="-122"/>
                <a:cs typeface="Aptos Display" pitchFamily="34" charset="-120"/>
              </a:rPr>
              <a:t>, </a:t>
            </a:r>
            <a:r>
              <a:rPr lang="en-US" sz="2800" b="1" dirty="0" err="1">
                <a:solidFill>
                  <a:srgbClr val="F4F8FF"/>
                </a:solidFill>
                <a:latin typeface="Aptos Display" pitchFamily="34" charset="0"/>
                <a:ea typeface="Aptos Display" pitchFamily="34" charset="-122"/>
                <a:cs typeface="Aptos Display" pitchFamily="34" charset="-120"/>
              </a:rPr>
              <a:t>ein</a:t>
            </a:r>
            <a:r>
              <a:rPr lang="en-US" sz="2800" b="1" dirty="0">
                <a:solidFill>
                  <a:srgbClr val="F4F8FF"/>
                </a:solidFill>
                <a:latin typeface="Aptos Display" pitchFamily="34" charset="0"/>
                <a:ea typeface="Aptos Display" pitchFamily="34" charset="-122"/>
                <a:cs typeface="Aptos Display" pitchFamily="34" charset="-120"/>
              </a:rPr>
              <a:t> Tunnel </a:t>
            </a:r>
            <a:r>
              <a:rPr lang="en-US" sz="2800" b="1" dirty="0" err="1">
                <a:solidFill>
                  <a:srgbClr val="F4F8FF"/>
                </a:solidFill>
                <a:latin typeface="Aptos Display" pitchFamily="34" charset="0"/>
                <a:ea typeface="Aptos Display" pitchFamily="34" charset="-122"/>
                <a:cs typeface="Aptos Display" pitchFamily="34" charset="-120"/>
              </a:rPr>
              <a:t>entsteht</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pPr marL="0" indent="0">
              <a:buNone/>
            </a:pPr>
            <a:r>
              <a:rPr lang="en-US" sz="1200" dirty="0" err="1">
                <a:solidFill>
                  <a:srgbClr val="B9C9D8"/>
                </a:solidFill>
              </a:rPr>
              <a:t>Vom</a:t>
            </a:r>
            <a:r>
              <a:rPr lang="en-US" sz="1200" dirty="0">
                <a:solidFill>
                  <a:srgbClr val="B9C9D8"/>
                </a:solidFill>
              </a:rPr>
              <a:t> </a:t>
            </a:r>
            <a:r>
              <a:rPr lang="en-US" sz="1200" dirty="0" err="1">
                <a:solidFill>
                  <a:srgbClr val="B9C9D8"/>
                </a:solidFill>
              </a:rPr>
              <a:t>Generatorwert</a:t>
            </a:r>
            <a:r>
              <a:rPr lang="en-US" sz="1200" dirty="0">
                <a:solidFill>
                  <a:srgbClr val="B9C9D8"/>
                </a:solidFill>
              </a:rPr>
              <a:t> bis </a:t>
            </a:r>
            <a:r>
              <a:rPr lang="en-US" sz="1200" dirty="0" err="1">
                <a:solidFill>
                  <a:srgbClr val="B9C9D8"/>
                </a:solidFill>
              </a:rPr>
              <a:t>zum</a:t>
            </a:r>
            <a:r>
              <a:rPr lang="en-US" sz="1200" dirty="0">
                <a:solidFill>
                  <a:srgbClr val="B9C9D8"/>
                </a:solidFill>
              </a:rPr>
              <a:t> </a:t>
            </a:r>
            <a:r>
              <a:rPr lang="en-US" sz="1200" dirty="0" err="1">
                <a:solidFill>
                  <a:srgbClr val="B9C9D8"/>
                </a:solidFill>
              </a:rPr>
              <a:t>tatsächlichen</a:t>
            </a:r>
            <a:r>
              <a:rPr lang="en-US" sz="1200" dirty="0">
                <a:solidFill>
                  <a:srgbClr val="B9C9D8"/>
                </a:solidFill>
              </a:rPr>
              <a:t> Spawn</a:t>
            </a:r>
            <a:endParaRPr lang="en-US" sz="1200" dirty="0"/>
          </a:p>
        </p:txBody>
      </p:sp>
      <p:sp>
        <p:nvSpPr>
          <p:cNvPr id="6" name="Shape 3"/>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7" name="Shape 4"/>
          <p:cNvSpPr/>
          <p:nvPr/>
        </p:nvSpPr>
        <p:spPr>
          <a:xfrm>
            <a:off x="685800" y="1554480"/>
            <a:ext cx="1691640" cy="868680"/>
          </a:xfrm>
          <a:prstGeom prst="roundRect">
            <a:avLst>
              <a:gd name="adj" fmla="val 11579"/>
            </a:avLst>
          </a:prstGeom>
          <a:solidFill>
            <a:srgbClr val="0E2537">
              <a:alpha val="97000"/>
            </a:srgbClr>
          </a:solidFill>
          <a:ln w="12700">
            <a:solidFill>
              <a:srgbClr val="3DDCFF"/>
            </a:solidFill>
            <a:prstDash val="solid"/>
          </a:ln>
        </p:spPr>
        <p:txBody>
          <a:bodyPr/>
          <a:lstStyle/>
          <a:p>
            <a:endParaRPr lang="de-AT"/>
          </a:p>
        </p:txBody>
      </p:sp>
      <p:sp>
        <p:nvSpPr>
          <p:cNvPr id="8" name="Shape 5"/>
          <p:cNvSpPr/>
          <p:nvPr/>
        </p:nvSpPr>
        <p:spPr>
          <a:xfrm>
            <a:off x="795528" y="1709928"/>
            <a:ext cx="530352" cy="530352"/>
          </a:xfrm>
          <a:prstGeom prst="ellipse">
            <a:avLst/>
          </a:prstGeom>
          <a:solidFill>
            <a:srgbClr val="3DDCFF"/>
          </a:solidFill>
          <a:ln w="12700">
            <a:solidFill>
              <a:srgbClr val="3DDCFF">
                <a:alpha val="0"/>
              </a:srgbClr>
            </a:solidFill>
            <a:prstDash val="solid"/>
          </a:ln>
        </p:spPr>
        <p:txBody>
          <a:bodyPr/>
          <a:lstStyle/>
          <a:p>
            <a:endParaRPr lang="de-AT"/>
          </a:p>
        </p:txBody>
      </p:sp>
      <p:sp>
        <p:nvSpPr>
          <p:cNvPr id="9" name="Text 6"/>
          <p:cNvSpPr/>
          <p:nvPr/>
        </p:nvSpPr>
        <p:spPr>
          <a:xfrm>
            <a:off x="795528" y="181965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1</a:t>
            </a:r>
            <a:endParaRPr lang="en-US" sz="1200" dirty="0"/>
          </a:p>
        </p:txBody>
      </p:sp>
      <p:sp>
        <p:nvSpPr>
          <p:cNvPr id="10" name="Text 7"/>
          <p:cNvSpPr/>
          <p:nvPr/>
        </p:nvSpPr>
        <p:spPr>
          <a:xfrm>
            <a:off x="1391260" y="1637907"/>
            <a:ext cx="941832" cy="219456"/>
          </a:xfrm>
          <a:prstGeom prst="rect">
            <a:avLst/>
          </a:prstGeom>
          <a:noFill/>
          <a:ln/>
        </p:spPr>
        <p:txBody>
          <a:bodyPr wrap="square" lIns="0" tIns="0" rIns="0" bIns="0" rtlCol="0" anchor="ctr"/>
          <a:lstStyle/>
          <a:p>
            <a:pPr marL="0" indent="0">
              <a:buNone/>
            </a:pPr>
            <a:r>
              <a:rPr lang="en-US" sz="1500" b="1" dirty="0">
                <a:solidFill>
                  <a:srgbClr val="F4F8FF"/>
                </a:solidFill>
              </a:rPr>
              <a:t>Generator</a:t>
            </a:r>
            <a:endParaRPr lang="en-US" sz="1500" dirty="0"/>
          </a:p>
        </p:txBody>
      </p:sp>
      <p:sp>
        <p:nvSpPr>
          <p:cNvPr id="11" name="Text 8"/>
          <p:cNvSpPr/>
          <p:nvPr/>
        </p:nvSpPr>
        <p:spPr>
          <a:xfrm>
            <a:off x="1435608" y="1993392"/>
            <a:ext cx="822960" cy="256032"/>
          </a:xfrm>
          <a:prstGeom prst="rect">
            <a:avLst/>
          </a:prstGeom>
          <a:noFill/>
          <a:ln/>
        </p:spPr>
        <p:txBody>
          <a:bodyPr wrap="square" lIns="0" tIns="0" rIns="0" bIns="0" rtlCol="0" anchor="ctr">
            <a:normAutofit fontScale="77500" lnSpcReduction="20000"/>
          </a:bodyPr>
          <a:lstStyle/>
          <a:p>
            <a:pPr marL="0" indent="0">
              <a:buNone/>
            </a:pPr>
            <a:r>
              <a:rPr lang="en-US" sz="1020" dirty="0">
                <a:solidFill>
                  <a:srgbClr val="B9C9D8"/>
                </a:solidFill>
              </a:rPr>
              <a:t>width 8, height 5, distance 15, y 1</a:t>
            </a:r>
            <a:endParaRPr lang="en-US" sz="1020" dirty="0"/>
          </a:p>
        </p:txBody>
      </p:sp>
      <p:sp>
        <p:nvSpPr>
          <p:cNvPr id="12" name="Shape 9"/>
          <p:cNvSpPr/>
          <p:nvPr/>
        </p:nvSpPr>
        <p:spPr>
          <a:xfrm>
            <a:off x="2485594" y="1993392"/>
            <a:ext cx="365760" cy="0"/>
          </a:xfrm>
          <a:prstGeom prst="line">
            <a:avLst/>
          </a:prstGeom>
          <a:noFill/>
          <a:ln w="12700">
            <a:solidFill>
              <a:srgbClr val="2D5A78"/>
            </a:solidFill>
            <a:prstDash val="solid"/>
            <a:headEnd type="none"/>
            <a:tailEnd type="triangle"/>
          </a:ln>
        </p:spPr>
        <p:txBody>
          <a:bodyPr/>
          <a:lstStyle/>
          <a:p>
            <a:endParaRPr lang="de-AT" dirty="0"/>
          </a:p>
        </p:txBody>
      </p:sp>
      <p:sp>
        <p:nvSpPr>
          <p:cNvPr id="13" name="Shape 10"/>
          <p:cNvSpPr/>
          <p:nvPr/>
        </p:nvSpPr>
        <p:spPr>
          <a:xfrm>
            <a:off x="2926080" y="1554480"/>
            <a:ext cx="1691640" cy="868680"/>
          </a:xfrm>
          <a:prstGeom prst="roundRect">
            <a:avLst>
              <a:gd name="adj" fmla="val 11579"/>
            </a:avLst>
          </a:prstGeom>
          <a:solidFill>
            <a:srgbClr val="0E2537">
              <a:alpha val="97000"/>
            </a:srgbClr>
          </a:solidFill>
          <a:ln w="12700">
            <a:solidFill>
              <a:srgbClr val="50E3A4"/>
            </a:solidFill>
            <a:prstDash val="solid"/>
          </a:ln>
        </p:spPr>
        <p:txBody>
          <a:bodyPr/>
          <a:lstStyle/>
          <a:p>
            <a:endParaRPr lang="de-AT"/>
          </a:p>
        </p:txBody>
      </p:sp>
      <p:sp>
        <p:nvSpPr>
          <p:cNvPr id="14" name="Shape 11"/>
          <p:cNvSpPr/>
          <p:nvPr/>
        </p:nvSpPr>
        <p:spPr>
          <a:xfrm>
            <a:off x="3035808" y="1709928"/>
            <a:ext cx="530352" cy="530352"/>
          </a:xfrm>
          <a:prstGeom prst="ellipse">
            <a:avLst/>
          </a:prstGeom>
          <a:solidFill>
            <a:srgbClr val="50E3A4"/>
          </a:solidFill>
          <a:ln w="12700">
            <a:solidFill>
              <a:srgbClr val="50E3A4">
                <a:alpha val="0"/>
              </a:srgbClr>
            </a:solidFill>
            <a:prstDash val="solid"/>
          </a:ln>
        </p:spPr>
        <p:txBody>
          <a:bodyPr/>
          <a:lstStyle/>
          <a:p>
            <a:endParaRPr lang="de-AT"/>
          </a:p>
        </p:txBody>
      </p:sp>
      <p:sp>
        <p:nvSpPr>
          <p:cNvPr id="15" name="Text 12"/>
          <p:cNvSpPr/>
          <p:nvPr/>
        </p:nvSpPr>
        <p:spPr>
          <a:xfrm>
            <a:off x="3035808" y="181965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2</a:t>
            </a:r>
            <a:endParaRPr lang="en-US" sz="1200" dirty="0"/>
          </a:p>
        </p:txBody>
      </p:sp>
      <p:sp>
        <p:nvSpPr>
          <p:cNvPr id="16" name="Text 13"/>
          <p:cNvSpPr/>
          <p:nvPr/>
        </p:nvSpPr>
        <p:spPr>
          <a:xfrm>
            <a:off x="3675888" y="1554480"/>
            <a:ext cx="822960" cy="228600"/>
          </a:xfrm>
          <a:prstGeom prst="rect">
            <a:avLst/>
          </a:prstGeom>
          <a:noFill/>
          <a:ln/>
        </p:spPr>
        <p:txBody>
          <a:bodyPr wrap="square" lIns="0" tIns="0" rIns="0" bIns="0" rtlCol="0" anchor="ctr"/>
          <a:lstStyle/>
          <a:p>
            <a:pPr marL="0" indent="0">
              <a:buNone/>
            </a:pPr>
            <a:r>
              <a:rPr lang="en-US" sz="1500" b="1" dirty="0">
                <a:solidFill>
                  <a:srgbClr val="F4F8FF"/>
                </a:solidFill>
              </a:rPr>
              <a:t>Spawner</a:t>
            </a:r>
            <a:endParaRPr lang="en-US" sz="1500" dirty="0"/>
          </a:p>
        </p:txBody>
      </p:sp>
      <p:sp>
        <p:nvSpPr>
          <p:cNvPr id="17" name="Text 14"/>
          <p:cNvSpPr/>
          <p:nvPr/>
        </p:nvSpPr>
        <p:spPr>
          <a:xfrm>
            <a:off x="3675888" y="1993392"/>
            <a:ext cx="822960" cy="256032"/>
          </a:xfrm>
          <a:prstGeom prst="rect">
            <a:avLst/>
          </a:prstGeom>
          <a:noFill/>
          <a:ln/>
        </p:spPr>
        <p:txBody>
          <a:bodyPr wrap="square" lIns="0" tIns="0" rIns="0" bIns="0" rtlCol="0" anchor="ctr">
            <a:normAutofit fontScale="62500" lnSpcReduction="20000"/>
          </a:bodyPr>
          <a:lstStyle/>
          <a:p>
            <a:pPr marL="0" indent="0">
              <a:buNone/>
            </a:pPr>
            <a:r>
              <a:rPr lang="en-US" sz="1020" dirty="0">
                <a:solidFill>
                  <a:srgbClr val="B9C9D8"/>
                </a:solidFill>
              </a:rPr>
              <a:t>Tunnel aus oberem und unterem Meteoriten</a:t>
            </a:r>
            <a:endParaRPr lang="en-US" sz="1020" dirty="0"/>
          </a:p>
        </p:txBody>
      </p:sp>
      <p:sp>
        <p:nvSpPr>
          <p:cNvPr id="18" name="Shape 15"/>
          <p:cNvSpPr/>
          <p:nvPr/>
        </p:nvSpPr>
        <p:spPr>
          <a:xfrm>
            <a:off x="4663440" y="1988820"/>
            <a:ext cx="365760" cy="0"/>
          </a:xfrm>
          <a:prstGeom prst="line">
            <a:avLst/>
          </a:prstGeom>
          <a:noFill/>
          <a:ln w="12700">
            <a:solidFill>
              <a:srgbClr val="2D5A78"/>
            </a:solidFill>
            <a:prstDash val="solid"/>
            <a:headEnd type="none"/>
            <a:tailEnd type="triangle"/>
          </a:ln>
        </p:spPr>
        <p:txBody>
          <a:bodyPr/>
          <a:lstStyle/>
          <a:p>
            <a:endParaRPr lang="de-AT"/>
          </a:p>
        </p:txBody>
      </p:sp>
      <p:sp>
        <p:nvSpPr>
          <p:cNvPr id="19" name="Shape 16"/>
          <p:cNvSpPr/>
          <p:nvPr/>
        </p:nvSpPr>
        <p:spPr>
          <a:xfrm>
            <a:off x="5166360" y="1554480"/>
            <a:ext cx="1691640" cy="868680"/>
          </a:xfrm>
          <a:prstGeom prst="roundRect">
            <a:avLst>
              <a:gd name="adj" fmla="val 11579"/>
            </a:avLst>
          </a:prstGeom>
          <a:solidFill>
            <a:srgbClr val="0E2537">
              <a:alpha val="97000"/>
            </a:srgbClr>
          </a:solidFill>
          <a:ln w="12700">
            <a:solidFill>
              <a:srgbClr val="FFB14E"/>
            </a:solidFill>
            <a:prstDash val="solid"/>
          </a:ln>
        </p:spPr>
        <p:txBody>
          <a:bodyPr/>
          <a:lstStyle/>
          <a:p>
            <a:endParaRPr lang="de-AT"/>
          </a:p>
        </p:txBody>
      </p:sp>
      <p:sp>
        <p:nvSpPr>
          <p:cNvPr id="20" name="Shape 17"/>
          <p:cNvSpPr/>
          <p:nvPr/>
        </p:nvSpPr>
        <p:spPr>
          <a:xfrm>
            <a:off x="5276088" y="1709928"/>
            <a:ext cx="530352" cy="530352"/>
          </a:xfrm>
          <a:prstGeom prst="ellipse">
            <a:avLst/>
          </a:prstGeom>
          <a:solidFill>
            <a:srgbClr val="FFB14E"/>
          </a:solidFill>
          <a:ln w="12700">
            <a:solidFill>
              <a:srgbClr val="FFB14E">
                <a:alpha val="0"/>
              </a:srgbClr>
            </a:solidFill>
            <a:prstDash val="solid"/>
          </a:ln>
        </p:spPr>
        <p:txBody>
          <a:bodyPr/>
          <a:lstStyle/>
          <a:p>
            <a:endParaRPr lang="de-AT"/>
          </a:p>
        </p:txBody>
      </p:sp>
      <p:sp>
        <p:nvSpPr>
          <p:cNvPr id="21" name="Text 18"/>
          <p:cNvSpPr/>
          <p:nvPr/>
        </p:nvSpPr>
        <p:spPr>
          <a:xfrm>
            <a:off x="5276088" y="181965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3</a:t>
            </a:r>
            <a:endParaRPr lang="en-US" sz="1200" dirty="0"/>
          </a:p>
        </p:txBody>
      </p:sp>
      <p:sp>
        <p:nvSpPr>
          <p:cNvPr id="22" name="Text 19"/>
          <p:cNvSpPr/>
          <p:nvPr/>
        </p:nvSpPr>
        <p:spPr>
          <a:xfrm>
            <a:off x="5916168" y="1594694"/>
            <a:ext cx="822960" cy="228600"/>
          </a:xfrm>
          <a:prstGeom prst="rect">
            <a:avLst/>
          </a:prstGeom>
          <a:noFill/>
          <a:ln/>
        </p:spPr>
        <p:txBody>
          <a:bodyPr wrap="square" lIns="0" tIns="0" rIns="0" bIns="0" rtlCol="0" anchor="ctr"/>
          <a:lstStyle/>
          <a:p>
            <a:pPr marL="0" indent="0">
              <a:buNone/>
            </a:pPr>
            <a:r>
              <a:rPr lang="en-US" sz="1500" b="1" dirty="0">
                <a:solidFill>
                  <a:srgbClr val="F4F8FF"/>
                </a:solidFill>
              </a:rPr>
              <a:t>Validator</a:t>
            </a:r>
            <a:endParaRPr lang="en-US" sz="1500" dirty="0"/>
          </a:p>
        </p:txBody>
      </p:sp>
      <p:sp>
        <p:nvSpPr>
          <p:cNvPr id="23" name="Text 20"/>
          <p:cNvSpPr/>
          <p:nvPr/>
        </p:nvSpPr>
        <p:spPr>
          <a:xfrm>
            <a:off x="5916168" y="1993392"/>
            <a:ext cx="822960" cy="256032"/>
          </a:xfrm>
          <a:prstGeom prst="rect">
            <a:avLst/>
          </a:prstGeom>
          <a:noFill/>
          <a:ln/>
        </p:spPr>
        <p:txBody>
          <a:bodyPr wrap="square" lIns="0" tIns="0" rIns="0" bIns="0" rtlCol="0" anchor="ctr">
            <a:normAutofit fontScale="77500" lnSpcReduction="20000"/>
          </a:bodyPr>
          <a:lstStyle/>
          <a:p>
            <a:pPr marL="0" indent="0">
              <a:buNone/>
            </a:pPr>
            <a:r>
              <a:rPr lang="en-US" sz="1020" dirty="0">
                <a:solidFill>
                  <a:srgbClr val="B9C9D8"/>
                </a:solidFill>
              </a:rPr>
              <a:t>Shadow Agent testet Flugkorridor</a:t>
            </a:r>
            <a:endParaRPr lang="en-US" sz="1020" dirty="0"/>
          </a:p>
        </p:txBody>
      </p:sp>
      <p:sp>
        <p:nvSpPr>
          <p:cNvPr id="24" name="Shape 21"/>
          <p:cNvSpPr/>
          <p:nvPr/>
        </p:nvSpPr>
        <p:spPr>
          <a:xfrm>
            <a:off x="6953373" y="2002536"/>
            <a:ext cx="365760" cy="0"/>
          </a:xfrm>
          <a:prstGeom prst="line">
            <a:avLst/>
          </a:prstGeom>
          <a:noFill/>
          <a:ln w="12700">
            <a:solidFill>
              <a:srgbClr val="2D5A78"/>
            </a:solidFill>
            <a:prstDash val="solid"/>
            <a:headEnd type="none"/>
            <a:tailEnd type="triangle"/>
          </a:ln>
        </p:spPr>
        <p:txBody>
          <a:bodyPr/>
          <a:lstStyle/>
          <a:p>
            <a:endParaRPr lang="de-AT"/>
          </a:p>
        </p:txBody>
      </p:sp>
      <p:sp>
        <p:nvSpPr>
          <p:cNvPr id="25" name="Shape 22"/>
          <p:cNvSpPr/>
          <p:nvPr/>
        </p:nvSpPr>
        <p:spPr>
          <a:xfrm>
            <a:off x="7406640" y="1554480"/>
            <a:ext cx="1975104" cy="868680"/>
          </a:xfrm>
          <a:prstGeom prst="roundRect">
            <a:avLst>
              <a:gd name="adj" fmla="val 11579"/>
            </a:avLst>
          </a:prstGeom>
          <a:solidFill>
            <a:srgbClr val="0E2537">
              <a:alpha val="97000"/>
            </a:srgbClr>
          </a:solidFill>
          <a:ln w="12700">
            <a:solidFill>
              <a:srgbClr val="9B6DFF"/>
            </a:solidFill>
            <a:prstDash val="solid"/>
          </a:ln>
        </p:spPr>
        <p:txBody>
          <a:bodyPr/>
          <a:lstStyle/>
          <a:p>
            <a:endParaRPr lang="de-AT"/>
          </a:p>
        </p:txBody>
      </p:sp>
      <p:sp>
        <p:nvSpPr>
          <p:cNvPr id="26" name="Shape 23"/>
          <p:cNvSpPr/>
          <p:nvPr/>
        </p:nvSpPr>
        <p:spPr>
          <a:xfrm>
            <a:off x="7516368" y="1709928"/>
            <a:ext cx="530352" cy="530352"/>
          </a:xfrm>
          <a:prstGeom prst="ellipse">
            <a:avLst/>
          </a:prstGeom>
          <a:solidFill>
            <a:srgbClr val="9B6DFF"/>
          </a:solidFill>
          <a:ln w="12700">
            <a:solidFill>
              <a:srgbClr val="9B6DFF">
                <a:alpha val="0"/>
              </a:srgbClr>
            </a:solidFill>
            <a:prstDash val="solid"/>
          </a:ln>
        </p:spPr>
        <p:txBody>
          <a:bodyPr/>
          <a:lstStyle/>
          <a:p>
            <a:endParaRPr lang="de-AT"/>
          </a:p>
        </p:txBody>
      </p:sp>
      <p:sp>
        <p:nvSpPr>
          <p:cNvPr id="27" name="Text 24"/>
          <p:cNvSpPr/>
          <p:nvPr/>
        </p:nvSpPr>
        <p:spPr>
          <a:xfrm>
            <a:off x="7516368" y="181965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4</a:t>
            </a:r>
            <a:endParaRPr lang="en-US" sz="1200" dirty="0"/>
          </a:p>
        </p:txBody>
      </p:sp>
      <p:sp>
        <p:nvSpPr>
          <p:cNvPr id="28" name="Text 25"/>
          <p:cNvSpPr/>
          <p:nvPr/>
        </p:nvSpPr>
        <p:spPr>
          <a:xfrm>
            <a:off x="8074152" y="1705358"/>
            <a:ext cx="1307592" cy="219454"/>
          </a:xfrm>
          <a:prstGeom prst="rect">
            <a:avLst/>
          </a:prstGeom>
          <a:noFill/>
          <a:ln/>
        </p:spPr>
        <p:txBody>
          <a:bodyPr wrap="square" lIns="0" tIns="0" rIns="0" bIns="0" rtlCol="0" anchor="ctr"/>
          <a:lstStyle/>
          <a:p>
            <a:pPr marL="0" indent="0">
              <a:buNone/>
            </a:pPr>
            <a:r>
              <a:rPr lang="en-US" sz="1500" b="1" dirty="0">
                <a:solidFill>
                  <a:srgbClr val="F4F8FF"/>
                </a:solidFill>
              </a:rPr>
              <a:t>Entscheidung</a:t>
            </a:r>
            <a:endParaRPr lang="en-US" sz="1500" dirty="0"/>
          </a:p>
        </p:txBody>
      </p:sp>
      <p:sp>
        <p:nvSpPr>
          <p:cNvPr id="29" name="Text 26"/>
          <p:cNvSpPr/>
          <p:nvPr/>
        </p:nvSpPr>
        <p:spPr>
          <a:xfrm>
            <a:off x="8156448" y="1993392"/>
            <a:ext cx="822960" cy="256032"/>
          </a:xfrm>
          <a:prstGeom prst="rect">
            <a:avLst/>
          </a:prstGeom>
          <a:noFill/>
          <a:ln/>
        </p:spPr>
        <p:txBody>
          <a:bodyPr wrap="square" lIns="0" tIns="0" rIns="0" bIns="0" rtlCol="0" anchor="ctr">
            <a:normAutofit fontScale="92500" lnSpcReduction="10000"/>
          </a:bodyPr>
          <a:lstStyle/>
          <a:p>
            <a:pPr marL="0" indent="0">
              <a:buNone/>
            </a:pPr>
            <a:r>
              <a:rPr lang="en-US" sz="1020" dirty="0">
                <a:solidFill>
                  <a:srgbClr val="B9C9D8"/>
                </a:solidFill>
              </a:rPr>
              <a:t>true bedeutet akzeptieren</a:t>
            </a:r>
            <a:endParaRPr lang="en-US" sz="1020" dirty="0"/>
          </a:p>
        </p:txBody>
      </p:sp>
      <p:sp>
        <p:nvSpPr>
          <p:cNvPr id="30" name="Shape 27"/>
          <p:cNvSpPr/>
          <p:nvPr/>
        </p:nvSpPr>
        <p:spPr>
          <a:xfrm>
            <a:off x="9464040" y="2033606"/>
            <a:ext cx="365760" cy="0"/>
          </a:xfrm>
          <a:prstGeom prst="line">
            <a:avLst/>
          </a:prstGeom>
          <a:noFill/>
          <a:ln w="12700">
            <a:solidFill>
              <a:srgbClr val="2D5A78"/>
            </a:solidFill>
            <a:prstDash val="solid"/>
            <a:headEnd type="none"/>
            <a:tailEnd type="triangle"/>
          </a:ln>
        </p:spPr>
        <p:txBody>
          <a:bodyPr/>
          <a:lstStyle/>
          <a:p>
            <a:endParaRPr lang="de-AT"/>
          </a:p>
        </p:txBody>
      </p:sp>
      <p:sp>
        <p:nvSpPr>
          <p:cNvPr id="31" name="Shape 28"/>
          <p:cNvSpPr/>
          <p:nvPr/>
        </p:nvSpPr>
        <p:spPr>
          <a:xfrm>
            <a:off x="9930384" y="1539240"/>
            <a:ext cx="1691640" cy="868680"/>
          </a:xfrm>
          <a:prstGeom prst="roundRect">
            <a:avLst>
              <a:gd name="adj" fmla="val 11579"/>
            </a:avLst>
          </a:prstGeom>
          <a:solidFill>
            <a:srgbClr val="0E2537">
              <a:alpha val="97000"/>
            </a:srgbClr>
          </a:solidFill>
          <a:ln w="12700">
            <a:solidFill>
              <a:srgbClr val="6DF7D4"/>
            </a:solidFill>
            <a:prstDash val="solid"/>
          </a:ln>
        </p:spPr>
        <p:txBody>
          <a:bodyPr/>
          <a:lstStyle/>
          <a:p>
            <a:endParaRPr lang="de-AT"/>
          </a:p>
        </p:txBody>
      </p:sp>
      <p:sp>
        <p:nvSpPr>
          <p:cNvPr id="32" name="Shape 29"/>
          <p:cNvSpPr/>
          <p:nvPr/>
        </p:nvSpPr>
        <p:spPr>
          <a:xfrm>
            <a:off x="10040112" y="1694688"/>
            <a:ext cx="530352" cy="530352"/>
          </a:xfrm>
          <a:prstGeom prst="ellipse">
            <a:avLst/>
          </a:prstGeom>
          <a:solidFill>
            <a:srgbClr val="6DF7D4"/>
          </a:solidFill>
          <a:ln w="12700">
            <a:solidFill>
              <a:srgbClr val="6DF7D4">
                <a:alpha val="0"/>
              </a:srgbClr>
            </a:solidFill>
            <a:prstDash val="solid"/>
          </a:ln>
        </p:spPr>
        <p:txBody>
          <a:bodyPr/>
          <a:lstStyle/>
          <a:p>
            <a:endParaRPr lang="de-AT"/>
          </a:p>
        </p:txBody>
      </p:sp>
      <p:sp>
        <p:nvSpPr>
          <p:cNvPr id="33" name="Text 30"/>
          <p:cNvSpPr/>
          <p:nvPr/>
        </p:nvSpPr>
        <p:spPr>
          <a:xfrm>
            <a:off x="10040112" y="1804416"/>
            <a:ext cx="530352" cy="182880"/>
          </a:xfrm>
          <a:prstGeom prst="rect">
            <a:avLst/>
          </a:prstGeom>
          <a:noFill/>
          <a:ln/>
        </p:spPr>
        <p:txBody>
          <a:bodyPr wrap="square" lIns="0" tIns="0" rIns="0" bIns="0" rtlCol="0" anchor="ctr"/>
          <a:lstStyle/>
          <a:p>
            <a:pPr marL="0" indent="0" algn="ctr">
              <a:buNone/>
            </a:pPr>
            <a:r>
              <a:rPr lang="en-US" sz="1200" b="1" dirty="0">
                <a:solidFill>
                  <a:srgbClr val="00121E"/>
                </a:solidFill>
              </a:rPr>
              <a:t>5</a:t>
            </a:r>
            <a:endParaRPr lang="en-US" sz="1200" dirty="0"/>
          </a:p>
        </p:txBody>
      </p:sp>
      <p:sp>
        <p:nvSpPr>
          <p:cNvPr id="34" name="Text 31"/>
          <p:cNvSpPr/>
          <p:nvPr/>
        </p:nvSpPr>
        <p:spPr>
          <a:xfrm>
            <a:off x="10680192" y="1667256"/>
            <a:ext cx="822960" cy="228600"/>
          </a:xfrm>
          <a:prstGeom prst="rect">
            <a:avLst/>
          </a:prstGeom>
          <a:noFill/>
          <a:ln/>
        </p:spPr>
        <p:txBody>
          <a:bodyPr wrap="square" lIns="0" tIns="0" rIns="0" bIns="0" rtlCol="0" anchor="ctr"/>
          <a:lstStyle/>
          <a:p>
            <a:pPr marL="0" indent="0">
              <a:buNone/>
            </a:pPr>
            <a:r>
              <a:rPr lang="en-US" sz="1500" b="1" dirty="0">
                <a:solidFill>
                  <a:srgbClr val="F4F8FF"/>
                </a:solidFill>
              </a:rPr>
              <a:t>Spawn</a:t>
            </a:r>
            <a:endParaRPr lang="en-US" sz="1500" dirty="0"/>
          </a:p>
        </p:txBody>
      </p:sp>
      <p:sp>
        <p:nvSpPr>
          <p:cNvPr id="35" name="Text 32"/>
          <p:cNvSpPr/>
          <p:nvPr/>
        </p:nvSpPr>
        <p:spPr>
          <a:xfrm>
            <a:off x="10680192" y="1978152"/>
            <a:ext cx="822960" cy="256032"/>
          </a:xfrm>
          <a:prstGeom prst="rect">
            <a:avLst/>
          </a:prstGeom>
          <a:noFill/>
          <a:ln/>
        </p:spPr>
        <p:txBody>
          <a:bodyPr wrap="square" lIns="0" tIns="0" rIns="0" bIns="0" rtlCol="0" anchor="ctr">
            <a:noAutofit/>
          </a:bodyPr>
          <a:lstStyle/>
          <a:p>
            <a:pPr marL="0" indent="0">
              <a:buNone/>
            </a:pPr>
            <a:r>
              <a:rPr lang="en-US" sz="800" dirty="0">
                <a:solidFill>
                  <a:srgbClr val="B9C9D8"/>
                </a:solidFill>
              </a:rPr>
              <a:t>Mesh und Collider erscheinen im Level</a:t>
            </a:r>
            <a:endParaRPr lang="en-US" sz="800" dirty="0"/>
          </a:p>
        </p:txBody>
      </p:sp>
      <p:sp>
        <p:nvSpPr>
          <p:cNvPr id="36" name="Shape 33"/>
          <p:cNvSpPr/>
          <p:nvPr/>
        </p:nvSpPr>
        <p:spPr>
          <a:xfrm>
            <a:off x="868680" y="4160520"/>
            <a:ext cx="4297680" cy="1417320"/>
          </a:xfrm>
          <a:prstGeom prst="roundRect">
            <a:avLst>
              <a:gd name="adj" fmla="val 5161"/>
            </a:avLst>
          </a:prstGeom>
          <a:solidFill>
            <a:srgbClr val="020A12">
              <a:alpha val="98000"/>
            </a:srgbClr>
          </a:solidFill>
          <a:ln w="12700">
            <a:solidFill>
              <a:srgbClr val="2D607F"/>
            </a:solidFill>
            <a:prstDash val="solid"/>
          </a:ln>
        </p:spPr>
        <p:txBody>
          <a:bodyPr/>
          <a:lstStyle/>
          <a:p>
            <a:endParaRPr lang="de-AT"/>
          </a:p>
        </p:txBody>
      </p:sp>
      <p:sp>
        <p:nvSpPr>
          <p:cNvPr id="37" name="Text 34"/>
          <p:cNvSpPr/>
          <p:nvPr/>
        </p:nvSpPr>
        <p:spPr>
          <a:xfrm>
            <a:off x="1005840" y="4261104"/>
            <a:ext cx="4023360" cy="201168"/>
          </a:xfrm>
          <a:prstGeom prst="rect">
            <a:avLst/>
          </a:prstGeom>
          <a:noFill/>
          <a:ln/>
        </p:spPr>
        <p:txBody>
          <a:bodyPr wrap="square" lIns="0" tIns="0" rIns="0" bIns="0" rtlCol="0" anchor="ctr"/>
          <a:lstStyle/>
          <a:p>
            <a:pPr marL="0" indent="0">
              <a:buNone/>
            </a:pPr>
            <a:r>
              <a:rPr lang="en-US" sz="900" b="1" dirty="0">
                <a:solidFill>
                  <a:srgbClr val="6DF7D4"/>
                </a:solidFill>
              </a:rPr>
              <a:t>Kernentscheidung im Spawner</a:t>
            </a:r>
            <a:endParaRPr lang="en-US" sz="900" dirty="0"/>
          </a:p>
        </p:txBody>
      </p:sp>
      <p:sp>
        <p:nvSpPr>
          <p:cNvPr id="38" name="Text 35"/>
          <p:cNvSpPr/>
          <p:nvPr/>
        </p:nvSpPr>
        <p:spPr>
          <a:xfrm>
            <a:off x="1014984" y="4544568"/>
            <a:ext cx="4005072" cy="914400"/>
          </a:xfrm>
          <a:prstGeom prst="rect">
            <a:avLst/>
          </a:prstGeom>
          <a:noFill/>
          <a:ln/>
        </p:spPr>
        <p:txBody>
          <a:bodyPr wrap="square" lIns="0" tIns="0" rIns="0" bIns="0" rtlCol="0" anchor="ctr">
            <a:normAutofit fontScale="92500" lnSpcReduction="20000"/>
          </a:bodyPr>
          <a:lstStyle/>
          <a:p>
            <a:pPr marL="0" indent="0">
              <a:buNone/>
            </a:pPr>
            <a:r>
              <a:rPr lang="en-US" sz="930" dirty="0">
                <a:solidFill>
                  <a:srgbClr val="D9F2FF"/>
                </a:solidFill>
                <a:latin typeface="Aptos Mono" pitchFamily="34" charset="0"/>
                <a:ea typeface="Aptos Mono" pitchFamily="34" charset="-122"/>
                <a:cs typeface="Aptos Mono" pitchFamily="34" charset="-120"/>
              </a:rPr>
              <a:t>if (mlValidation.ValidateObstacleAsync(pattern))</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    Spawn(pattern);</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else</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    nextSpawnX += 8f;</a:t>
            </a:r>
            <a:endParaRPr lang="en-US" sz="930" dirty="0"/>
          </a:p>
          <a:p>
            <a:pPr marL="0" indent="0">
              <a:buNone/>
            </a:pPr>
            <a:r>
              <a:rPr lang="en-US" sz="930" dirty="0">
                <a:solidFill>
                  <a:srgbClr val="D9F2FF"/>
                </a:solidFill>
                <a:latin typeface="Aptos Mono" pitchFamily="34" charset="0"/>
                <a:ea typeface="Aptos Mono" pitchFamily="34" charset="-122"/>
                <a:cs typeface="Aptos Mono" pitchFamily="34" charset="-120"/>
              </a:rPr>
              <a:t>}</a:t>
            </a:r>
            <a:endParaRPr lang="en-US" sz="930" dirty="0"/>
          </a:p>
        </p:txBody>
      </p:sp>
      <p:sp>
        <p:nvSpPr>
          <p:cNvPr id="41" name="Text 38"/>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42" name="Text 39"/>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air_imgs/validation.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1"/>
            <a:ext cx="12191695" cy="8582445"/>
          </a:xfrm>
          <a:prstGeom prst="rect">
            <a:avLst/>
          </a:prstGeom>
          <a:solidFill>
            <a:srgbClr val="000B16">
              <a:alpha val="65000"/>
            </a:srgbClr>
          </a:solidFill>
          <a:ln w="12700">
            <a:solidFill>
              <a:srgbClr val="000B16">
                <a:alpha val="0"/>
              </a:srgbClr>
            </a:solidFill>
            <a:prstDash val="solid"/>
          </a:ln>
        </p:spPr>
        <p:txBody>
          <a:bodyPr/>
          <a:lstStyle/>
          <a:p>
            <a:endParaRPr lang="de-AT" dirty="0"/>
          </a:p>
        </p:txBody>
      </p:sp>
      <p:sp>
        <p:nvSpPr>
          <p:cNvPr id="4" name="Text 1"/>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a:solidFill>
                  <a:srgbClr val="F4F8FF"/>
                </a:solidFill>
                <a:latin typeface="Aptos Display" pitchFamily="34" charset="0"/>
              </a:rPr>
              <a:t>Projektvalidatoren</a:t>
            </a:r>
            <a:endParaRPr lang="en-US" sz="2800" dirty="0"/>
          </a:p>
        </p:txBody>
      </p:sp>
      <p:sp>
        <p:nvSpPr>
          <p:cNvPr id="5" name="Text 2"/>
          <p:cNvSpPr/>
          <p:nvPr/>
        </p:nvSpPr>
        <p:spPr>
          <a:xfrm>
            <a:off x="566928" y="804672"/>
            <a:ext cx="8046720" cy="320040"/>
          </a:xfrm>
          <a:prstGeom prst="rect">
            <a:avLst/>
          </a:prstGeom>
          <a:noFill/>
          <a:ln/>
        </p:spPr>
        <p:txBody>
          <a:bodyPr wrap="square" lIns="0" tIns="0" rIns="0" bIns="0" rtlCol="0" anchor="ctr"/>
          <a:lstStyle/>
          <a:p>
            <a:r>
              <a:rPr lang="de-DE" sz="1200" dirty="0">
                <a:solidFill>
                  <a:srgbClr val="B9C9D8"/>
                </a:solidFill>
              </a:rPr>
              <a:t>Wann gilt unser Projekt als erfolgreich?</a:t>
            </a:r>
            <a:endParaRPr lang="en-US" sz="1200" dirty="0">
              <a:solidFill>
                <a:srgbClr val="B9C9D8"/>
              </a:solidFill>
            </a:endParaRPr>
          </a:p>
        </p:txBody>
      </p:sp>
      <p:sp>
        <p:nvSpPr>
          <p:cNvPr id="23" name="Text 20"/>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24" name="Text 21"/>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12</a:t>
            </a:r>
            <a:endParaRPr lang="en-US" sz="900" dirty="0"/>
          </a:p>
        </p:txBody>
      </p:sp>
      <p:sp>
        <p:nvSpPr>
          <p:cNvPr id="25" name="Shape 16">
            <a:extLst>
              <a:ext uri="{FF2B5EF4-FFF2-40B4-BE49-F238E27FC236}">
                <a16:creationId xmlns:a16="http://schemas.microsoft.com/office/drawing/2014/main" id="{E6B875AE-FBE8-8A85-33F6-D8B117620A62}"/>
              </a:ext>
            </a:extLst>
          </p:cNvPr>
          <p:cNvSpPr/>
          <p:nvPr/>
        </p:nvSpPr>
        <p:spPr>
          <a:xfrm>
            <a:off x="1952761" y="1682496"/>
            <a:ext cx="3330088" cy="868680"/>
          </a:xfrm>
          <a:prstGeom prst="roundRect">
            <a:avLst>
              <a:gd name="adj" fmla="val 11579"/>
            </a:avLst>
          </a:prstGeom>
          <a:solidFill>
            <a:srgbClr val="0E2537">
              <a:alpha val="97000"/>
            </a:srgbClr>
          </a:solidFill>
          <a:ln w="12700">
            <a:solidFill>
              <a:srgbClr val="FFB14E"/>
            </a:solidFill>
            <a:prstDash val="solid"/>
          </a:ln>
        </p:spPr>
        <p:txBody>
          <a:bodyPr/>
          <a:lstStyle/>
          <a:p>
            <a:r>
              <a:rPr lang="de-DE" sz="1500" b="1" dirty="0">
                <a:solidFill>
                  <a:srgbClr val="F4F8FF"/>
                </a:solidFill>
              </a:rPr>
              <a:t>Neue Hindernisse entstehen dynamisch während des Spielens</a:t>
            </a:r>
            <a:endParaRPr lang="de-AT" sz="1500" b="1" dirty="0">
              <a:solidFill>
                <a:srgbClr val="F4F8FF"/>
              </a:solidFill>
            </a:endParaRPr>
          </a:p>
        </p:txBody>
      </p:sp>
      <p:sp>
        <p:nvSpPr>
          <p:cNvPr id="27" name="Shape 3">
            <a:extLst>
              <a:ext uri="{FF2B5EF4-FFF2-40B4-BE49-F238E27FC236}">
                <a16:creationId xmlns:a16="http://schemas.microsoft.com/office/drawing/2014/main" id="{03C71A6A-09FA-56D9-2AD4-3655BEAC5FF6}"/>
              </a:ext>
            </a:extLst>
          </p:cNvPr>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28" name="Shape 4">
            <a:extLst>
              <a:ext uri="{FF2B5EF4-FFF2-40B4-BE49-F238E27FC236}">
                <a16:creationId xmlns:a16="http://schemas.microsoft.com/office/drawing/2014/main" id="{C1A09585-5C81-4CC2-1825-5993337FD752}"/>
              </a:ext>
            </a:extLst>
          </p:cNvPr>
          <p:cNvSpPr/>
          <p:nvPr/>
        </p:nvSpPr>
        <p:spPr>
          <a:xfrm>
            <a:off x="6909152" y="1691198"/>
            <a:ext cx="3408992" cy="868680"/>
          </a:xfrm>
          <a:prstGeom prst="roundRect">
            <a:avLst>
              <a:gd name="adj" fmla="val 11579"/>
            </a:avLst>
          </a:prstGeom>
          <a:solidFill>
            <a:srgbClr val="0E2537">
              <a:alpha val="97000"/>
            </a:srgbClr>
          </a:solidFill>
          <a:ln w="12700">
            <a:solidFill>
              <a:srgbClr val="3DDCFF"/>
            </a:solidFill>
            <a:prstDash val="solid"/>
          </a:ln>
        </p:spPr>
        <p:txBody>
          <a:bodyPr/>
          <a:lstStyle/>
          <a:p>
            <a:r>
              <a:rPr lang="de-DE" sz="1500" b="1" dirty="0">
                <a:solidFill>
                  <a:srgbClr val="F4F8FF"/>
                </a:solidFill>
              </a:rPr>
              <a:t>Jedes Hindernis variiert in Größe, Form und Komplexität</a:t>
            </a:r>
            <a:endParaRPr lang="de-AT" sz="1500" b="1" dirty="0">
              <a:solidFill>
                <a:srgbClr val="F4F8FF"/>
              </a:solidFill>
            </a:endParaRPr>
          </a:p>
        </p:txBody>
      </p:sp>
      <p:sp>
        <p:nvSpPr>
          <p:cNvPr id="29" name="Shape 10">
            <a:extLst>
              <a:ext uri="{FF2B5EF4-FFF2-40B4-BE49-F238E27FC236}">
                <a16:creationId xmlns:a16="http://schemas.microsoft.com/office/drawing/2014/main" id="{98EC8E27-2160-5F09-706A-681A9106B090}"/>
              </a:ext>
            </a:extLst>
          </p:cNvPr>
          <p:cNvSpPr/>
          <p:nvPr/>
        </p:nvSpPr>
        <p:spPr>
          <a:xfrm>
            <a:off x="1926165" y="3076956"/>
            <a:ext cx="3356684" cy="868680"/>
          </a:xfrm>
          <a:prstGeom prst="roundRect">
            <a:avLst>
              <a:gd name="adj" fmla="val 11579"/>
            </a:avLst>
          </a:prstGeom>
          <a:solidFill>
            <a:srgbClr val="0E2537">
              <a:alpha val="97000"/>
            </a:srgbClr>
          </a:solidFill>
          <a:ln w="12700">
            <a:solidFill>
              <a:srgbClr val="50E3A4"/>
            </a:solidFill>
            <a:prstDash val="solid"/>
          </a:ln>
        </p:spPr>
        <p:txBody>
          <a:bodyPr/>
          <a:lstStyle/>
          <a:p>
            <a:r>
              <a:rPr lang="de-DE" sz="1500" b="1" dirty="0">
                <a:solidFill>
                  <a:schemeClr val="bg1"/>
                </a:solidFill>
              </a:rPr>
              <a:t>Der </a:t>
            </a:r>
            <a:r>
              <a:rPr lang="de-DE" sz="1500" b="1" dirty="0" err="1">
                <a:solidFill>
                  <a:schemeClr val="bg1"/>
                </a:solidFill>
              </a:rPr>
              <a:t>Validator</a:t>
            </a:r>
            <a:r>
              <a:rPr lang="de-DE" sz="1500" b="1" dirty="0">
                <a:solidFill>
                  <a:schemeClr val="bg1"/>
                </a:solidFill>
              </a:rPr>
              <a:t> entscheidet sehr schnell, ob ein Hindernis fair und physikalisch überwindbar ist</a:t>
            </a:r>
            <a:endParaRPr lang="de-AT" sz="1500" b="1" dirty="0">
              <a:solidFill>
                <a:schemeClr val="bg1"/>
              </a:solidFill>
            </a:endParaRPr>
          </a:p>
        </p:txBody>
      </p:sp>
      <p:sp>
        <p:nvSpPr>
          <p:cNvPr id="30" name="Shape 22">
            <a:extLst>
              <a:ext uri="{FF2B5EF4-FFF2-40B4-BE49-F238E27FC236}">
                <a16:creationId xmlns:a16="http://schemas.microsoft.com/office/drawing/2014/main" id="{DDFEE70D-A7A5-970F-118F-44658EA9B1BC}"/>
              </a:ext>
            </a:extLst>
          </p:cNvPr>
          <p:cNvSpPr/>
          <p:nvPr/>
        </p:nvSpPr>
        <p:spPr>
          <a:xfrm>
            <a:off x="6909152" y="3117662"/>
            <a:ext cx="3408992" cy="868680"/>
          </a:xfrm>
          <a:prstGeom prst="roundRect">
            <a:avLst>
              <a:gd name="adj" fmla="val 11579"/>
            </a:avLst>
          </a:prstGeom>
          <a:solidFill>
            <a:srgbClr val="0E2537">
              <a:alpha val="97000"/>
            </a:srgbClr>
          </a:solidFill>
          <a:ln w="12700">
            <a:solidFill>
              <a:srgbClr val="9B6DFF"/>
            </a:solidFill>
            <a:prstDash val="solid"/>
          </a:ln>
        </p:spPr>
        <p:txBody>
          <a:bodyPr/>
          <a:lstStyle/>
          <a:p>
            <a:r>
              <a:rPr lang="de-DE" sz="1500" b="1" dirty="0">
                <a:solidFill>
                  <a:schemeClr val="bg1"/>
                </a:solidFill>
              </a:rPr>
              <a:t>Die KI läuft im Hintergrund, ohne spürbare Verzögerung im Spielablauf</a:t>
            </a:r>
            <a:endParaRPr lang="de-AT" sz="1500" b="1" dirty="0">
              <a:solidFill>
                <a:schemeClr val="bg1"/>
              </a:solidFill>
            </a:endParaRPr>
          </a:p>
        </p:txBody>
      </p:sp>
      <p:sp>
        <p:nvSpPr>
          <p:cNvPr id="31" name="Shape 28">
            <a:extLst>
              <a:ext uri="{FF2B5EF4-FFF2-40B4-BE49-F238E27FC236}">
                <a16:creationId xmlns:a16="http://schemas.microsoft.com/office/drawing/2014/main" id="{A8631A02-86A3-2D44-0D2D-88B24E638C3C}"/>
              </a:ext>
            </a:extLst>
          </p:cNvPr>
          <p:cNvSpPr/>
          <p:nvPr/>
        </p:nvSpPr>
        <p:spPr>
          <a:xfrm>
            <a:off x="4526280" y="4553491"/>
            <a:ext cx="3356683" cy="868680"/>
          </a:xfrm>
          <a:prstGeom prst="roundRect">
            <a:avLst>
              <a:gd name="adj" fmla="val 11579"/>
            </a:avLst>
          </a:prstGeom>
          <a:solidFill>
            <a:srgbClr val="0E2537">
              <a:alpha val="97000"/>
            </a:srgbClr>
          </a:solidFill>
          <a:ln w="12700">
            <a:solidFill>
              <a:srgbClr val="6DF7D4"/>
            </a:solidFill>
            <a:prstDash val="solid"/>
          </a:ln>
        </p:spPr>
        <p:txBody>
          <a:bodyPr/>
          <a:lstStyle/>
          <a:p>
            <a:r>
              <a:rPr lang="de-DE" sz="1500" b="1" dirty="0">
                <a:solidFill>
                  <a:schemeClr val="bg1"/>
                </a:solidFill>
              </a:rPr>
              <a:t>Das Level bleibt langfristig spielbar, ohne unfairen oder unmöglichen Hindernisaufbau</a:t>
            </a:r>
            <a:endParaRPr lang="de-AT" sz="1500" b="1" dirty="0">
              <a:solidFill>
                <a:schemeClr val="bg1"/>
              </a:solidFill>
            </a:endParaRPr>
          </a:p>
        </p:txBody>
      </p:sp>
      <p:sp>
        <p:nvSpPr>
          <p:cNvPr id="32" name="AutoShape 2" descr="Giving Thumbs Up PNG Transparent Images Free Download | Vector Files |  Pngtree">
            <a:extLst>
              <a:ext uri="{FF2B5EF4-FFF2-40B4-BE49-F238E27FC236}">
                <a16:creationId xmlns:a16="http://schemas.microsoft.com/office/drawing/2014/main" id="{DC741D5E-EDA4-9399-5A23-F82E0BAD8F1F}"/>
              </a:ext>
            </a:extLst>
          </p:cNvPr>
          <p:cNvSpPr>
            <a:spLocks noChangeAspect="1" noChangeArrowheads="1"/>
          </p:cNvSpPr>
          <p:nvPr/>
        </p:nvSpPr>
        <p:spPr bwMode="auto">
          <a:xfrm>
            <a:off x="5943600" y="3276600"/>
            <a:ext cx="304800" cy="38144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A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E364-DD31-895F-04E3-96679C7987B6}"/>
            </a:ext>
          </a:extLst>
        </p:cNvPr>
        <p:cNvGrpSpPr/>
        <p:nvPr/>
      </p:nvGrpSpPr>
      <p:grpSpPr>
        <a:xfrm>
          <a:off x="0" y="0"/>
          <a:ext cx="0" cy="0"/>
          <a:chOff x="0" y="0"/>
          <a:chExt cx="0" cy="0"/>
        </a:xfrm>
      </p:grpSpPr>
      <p:pic>
        <p:nvPicPr>
          <p:cNvPr id="2" name="Image 0" descr="/mnt/data/air_imgs/hero.jpg">
            <a:extLst>
              <a:ext uri="{FF2B5EF4-FFF2-40B4-BE49-F238E27FC236}">
                <a16:creationId xmlns:a16="http://schemas.microsoft.com/office/drawing/2014/main" id="{C28340B3-4B3F-615D-E8EB-F768310CBE3A}"/>
              </a:ext>
            </a:extLst>
          </p:cNvPr>
          <p:cNvPicPr>
            <a:picLocks noChangeAspect="1"/>
          </p:cNvPicPr>
          <p:nvPr/>
        </p:nvPicPr>
        <p:blipFill>
          <a:blip r:embed="rId3"/>
          <a:srcRect l="1" r="1"/>
          <a:stretch/>
        </p:blipFill>
        <p:spPr>
          <a:xfrm>
            <a:off x="0" y="0"/>
            <a:ext cx="12191695" cy="6858000"/>
          </a:xfrm>
          <a:prstGeom prst="rect">
            <a:avLst/>
          </a:prstGeom>
        </p:spPr>
      </p:pic>
      <p:sp>
        <p:nvSpPr>
          <p:cNvPr id="3" name="Shape 0">
            <a:extLst>
              <a:ext uri="{FF2B5EF4-FFF2-40B4-BE49-F238E27FC236}">
                <a16:creationId xmlns:a16="http://schemas.microsoft.com/office/drawing/2014/main" id="{8C19DA29-5122-A584-9B99-9894C01C4832}"/>
              </a:ext>
            </a:extLst>
          </p:cNvPr>
          <p:cNvSpPr/>
          <p:nvPr/>
        </p:nvSpPr>
        <p:spPr>
          <a:xfrm>
            <a:off x="0" y="0"/>
            <a:ext cx="12191695" cy="6858000"/>
          </a:xfrm>
          <a:prstGeom prst="rect">
            <a:avLst/>
          </a:prstGeom>
          <a:solidFill>
            <a:srgbClr val="000B16">
              <a:alpha val="92000"/>
            </a:srgbClr>
          </a:solidFill>
          <a:ln w="12700">
            <a:solidFill>
              <a:srgbClr val="000B16">
                <a:alpha val="0"/>
              </a:srgbClr>
            </a:solidFill>
            <a:prstDash val="solid"/>
          </a:ln>
        </p:spPr>
        <p:txBody>
          <a:bodyPr/>
          <a:lstStyle/>
          <a:p>
            <a:endParaRPr lang="de-AT"/>
          </a:p>
        </p:txBody>
      </p:sp>
      <p:sp>
        <p:nvSpPr>
          <p:cNvPr id="5" name="Text 2">
            <a:extLst>
              <a:ext uri="{FF2B5EF4-FFF2-40B4-BE49-F238E27FC236}">
                <a16:creationId xmlns:a16="http://schemas.microsoft.com/office/drawing/2014/main" id="{A05DC16E-4489-33AB-AA62-C3A742B95B4D}"/>
              </a:ext>
            </a:extLst>
          </p:cNvPr>
          <p:cNvSpPr/>
          <p:nvPr/>
        </p:nvSpPr>
        <p:spPr>
          <a:xfrm>
            <a:off x="5185871" y="2935322"/>
            <a:ext cx="2468880" cy="640080"/>
          </a:xfrm>
          <a:prstGeom prst="rect">
            <a:avLst/>
          </a:prstGeom>
          <a:noFill/>
          <a:ln/>
        </p:spPr>
        <p:txBody>
          <a:bodyPr wrap="square" lIns="0" tIns="0" rIns="0" bIns="0" rtlCol="0" anchor="ctr"/>
          <a:lstStyle/>
          <a:p>
            <a:pPr marL="0" indent="0">
              <a:buNone/>
            </a:pPr>
            <a:r>
              <a:rPr lang="en-US" sz="5400" b="1" dirty="0">
                <a:solidFill>
                  <a:srgbClr val="F4F8FF"/>
                </a:solidFill>
                <a:latin typeface="Aptos Display" pitchFamily="34" charset="0"/>
              </a:rPr>
              <a:t>Demo</a:t>
            </a:r>
            <a:endParaRPr lang="en-US" sz="5400" dirty="0"/>
          </a:p>
        </p:txBody>
      </p:sp>
      <p:sp>
        <p:nvSpPr>
          <p:cNvPr id="14" name="Text 11">
            <a:extLst>
              <a:ext uri="{FF2B5EF4-FFF2-40B4-BE49-F238E27FC236}">
                <a16:creationId xmlns:a16="http://schemas.microsoft.com/office/drawing/2014/main" id="{AA001CD9-141E-CF83-E3F8-0B195E6357B7}"/>
              </a:ext>
            </a:extLst>
          </p:cNvPr>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15" name="Text 12">
            <a:extLst>
              <a:ext uri="{FF2B5EF4-FFF2-40B4-BE49-F238E27FC236}">
                <a16:creationId xmlns:a16="http://schemas.microsoft.com/office/drawing/2014/main" id="{FBA48CE3-BE51-3B8C-F7B6-7C6B7053A173}"/>
              </a:ext>
            </a:extLst>
          </p:cNvPr>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13</a:t>
            </a:r>
            <a:endParaRPr lang="en-US" sz="900" dirty="0"/>
          </a:p>
        </p:txBody>
      </p:sp>
    </p:spTree>
    <p:extLst>
      <p:ext uri="{BB962C8B-B14F-4D97-AF65-F5344CB8AC3E}">
        <p14:creationId xmlns:p14="http://schemas.microsoft.com/office/powerpoint/2010/main" val="1089811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58140-0EA6-19FD-6579-F8B72A480122}"/>
            </a:ext>
          </a:extLst>
        </p:cNvPr>
        <p:cNvGrpSpPr/>
        <p:nvPr/>
      </p:nvGrpSpPr>
      <p:grpSpPr>
        <a:xfrm>
          <a:off x="0" y="0"/>
          <a:ext cx="0" cy="0"/>
          <a:chOff x="0" y="0"/>
          <a:chExt cx="0" cy="0"/>
        </a:xfrm>
      </p:grpSpPr>
      <p:pic>
        <p:nvPicPr>
          <p:cNvPr id="2" name="Image 0" descr="/mnt/data/air_imgs/hero.jpg">
            <a:extLst>
              <a:ext uri="{FF2B5EF4-FFF2-40B4-BE49-F238E27FC236}">
                <a16:creationId xmlns:a16="http://schemas.microsoft.com/office/drawing/2014/main" id="{9CD879B8-5553-E611-E674-662573293F9E}"/>
              </a:ext>
            </a:extLst>
          </p:cNvPr>
          <p:cNvPicPr>
            <a:picLocks noChangeAspect="1"/>
          </p:cNvPicPr>
          <p:nvPr/>
        </p:nvPicPr>
        <p:blipFill>
          <a:blip r:embed="rId3"/>
          <a:srcRect l="1" r="1"/>
          <a:stretch/>
        </p:blipFill>
        <p:spPr>
          <a:xfrm>
            <a:off x="0" y="0"/>
            <a:ext cx="12191695" cy="6858000"/>
          </a:xfrm>
          <a:prstGeom prst="rect">
            <a:avLst/>
          </a:prstGeom>
        </p:spPr>
      </p:pic>
      <p:sp>
        <p:nvSpPr>
          <p:cNvPr id="3" name="Shape 0">
            <a:extLst>
              <a:ext uri="{FF2B5EF4-FFF2-40B4-BE49-F238E27FC236}">
                <a16:creationId xmlns:a16="http://schemas.microsoft.com/office/drawing/2014/main" id="{6A69BF1B-2CDA-56A8-EA15-9EB9BCA368B6}"/>
              </a:ext>
            </a:extLst>
          </p:cNvPr>
          <p:cNvSpPr/>
          <p:nvPr/>
        </p:nvSpPr>
        <p:spPr>
          <a:xfrm>
            <a:off x="0" y="0"/>
            <a:ext cx="12191695" cy="6858000"/>
          </a:xfrm>
          <a:prstGeom prst="rect">
            <a:avLst/>
          </a:prstGeom>
          <a:solidFill>
            <a:srgbClr val="000B16">
              <a:alpha val="92000"/>
            </a:srgbClr>
          </a:solidFill>
          <a:ln w="12700">
            <a:solidFill>
              <a:srgbClr val="000B16">
                <a:alpha val="0"/>
              </a:srgbClr>
            </a:solidFill>
            <a:prstDash val="solid"/>
          </a:ln>
        </p:spPr>
        <p:txBody>
          <a:bodyPr/>
          <a:lstStyle/>
          <a:p>
            <a:endParaRPr lang="de-AT"/>
          </a:p>
        </p:txBody>
      </p:sp>
      <p:sp>
        <p:nvSpPr>
          <p:cNvPr id="14" name="Text 11">
            <a:extLst>
              <a:ext uri="{FF2B5EF4-FFF2-40B4-BE49-F238E27FC236}">
                <a16:creationId xmlns:a16="http://schemas.microsoft.com/office/drawing/2014/main" id="{4ABF905D-D6E1-D47A-0D69-743FED2FFCE1}"/>
              </a:ext>
            </a:extLst>
          </p:cNvPr>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15" name="Text 12">
            <a:extLst>
              <a:ext uri="{FF2B5EF4-FFF2-40B4-BE49-F238E27FC236}">
                <a16:creationId xmlns:a16="http://schemas.microsoft.com/office/drawing/2014/main" id="{F3DCDB5F-F04A-C77C-A093-D233528A7E0A}"/>
              </a:ext>
            </a:extLst>
          </p:cNvPr>
          <p:cNvSpPr/>
          <p:nvPr/>
        </p:nvSpPr>
        <p:spPr>
          <a:xfrm>
            <a:off x="11338560" y="6446520"/>
            <a:ext cx="384048" cy="228600"/>
          </a:xfrm>
          <a:prstGeom prst="rect">
            <a:avLst/>
          </a:prstGeom>
          <a:noFill/>
          <a:ln/>
        </p:spPr>
        <p:txBody>
          <a:bodyPr wrap="square" lIns="0" tIns="0" rIns="0" bIns="0" rtlCol="0" anchor="ctr"/>
          <a:lstStyle/>
          <a:p>
            <a:pPr marL="0" indent="0" algn="r">
              <a:buNone/>
            </a:pPr>
            <a:r>
              <a:rPr lang="en-US" sz="900" dirty="0">
                <a:solidFill>
                  <a:srgbClr val="86A3B9"/>
                </a:solidFill>
              </a:rPr>
              <a:t>14</a:t>
            </a:r>
            <a:endParaRPr lang="en-US" sz="900" dirty="0"/>
          </a:p>
        </p:txBody>
      </p:sp>
      <p:sp>
        <p:nvSpPr>
          <p:cNvPr id="4" name="Text 1">
            <a:extLst>
              <a:ext uri="{FF2B5EF4-FFF2-40B4-BE49-F238E27FC236}">
                <a16:creationId xmlns:a16="http://schemas.microsoft.com/office/drawing/2014/main" id="{29B7D1F5-DEFF-6D35-B19E-C25E072CB99E}"/>
              </a:ext>
            </a:extLst>
          </p:cNvPr>
          <p:cNvSpPr/>
          <p:nvPr/>
        </p:nvSpPr>
        <p:spPr>
          <a:xfrm>
            <a:off x="548640" y="292608"/>
            <a:ext cx="7955280" cy="502920"/>
          </a:xfrm>
          <a:prstGeom prst="rect">
            <a:avLst/>
          </a:prstGeom>
          <a:noFill/>
          <a:ln/>
        </p:spPr>
        <p:txBody>
          <a:bodyPr wrap="square" lIns="0" tIns="0" rIns="0" bIns="0" rtlCol="0" anchor="ctr"/>
          <a:lstStyle/>
          <a:p>
            <a:pPr marL="0" indent="0">
              <a:buNone/>
            </a:pPr>
            <a:r>
              <a:rPr lang="en-US" sz="2800" b="1" dirty="0" err="1">
                <a:solidFill>
                  <a:srgbClr val="F4F8FF"/>
                </a:solidFill>
                <a:latin typeface="Aptos Display" pitchFamily="34" charset="0"/>
              </a:rPr>
              <a:t>Probleme</a:t>
            </a:r>
            <a:endParaRPr lang="en-US" sz="2800" dirty="0"/>
          </a:p>
        </p:txBody>
      </p:sp>
      <p:sp>
        <p:nvSpPr>
          <p:cNvPr id="6" name="Text 2">
            <a:extLst>
              <a:ext uri="{FF2B5EF4-FFF2-40B4-BE49-F238E27FC236}">
                <a16:creationId xmlns:a16="http://schemas.microsoft.com/office/drawing/2014/main" id="{35E8BCFA-24D1-00E0-5161-2E906F8559F3}"/>
              </a:ext>
            </a:extLst>
          </p:cNvPr>
          <p:cNvSpPr/>
          <p:nvPr/>
        </p:nvSpPr>
        <p:spPr>
          <a:xfrm>
            <a:off x="566928" y="804672"/>
            <a:ext cx="8046720" cy="320040"/>
          </a:xfrm>
          <a:prstGeom prst="rect">
            <a:avLst/>
          </a:prstGeom>
          <a:noFill/>
          <a:ln/>
        </p:spPr>
        <p:txBody>
          <a:bodyPr wrap="square" lIns="0" tIns="0" rIns="0" bIns="0" rtlCol="0" anchor="ctr"/>
          <a:lstStyle/>
          <a:p>
            <a:r>
              <a:rPr lang="de-DE" sz="1200" noProof="0" dirty="0">
                <a:solidFill>
                  <a:srgbClr val="B9C9D8"/>
                </a:solidFill>
              </a:rPr>
              <a:t>Probleme, die während des Entwicklungsprozesses aufkamen</a:t>
            </a:r>
          </a:p>
        </p:txBody>
      </p:sp>
      <p:sp>
        <p:nvSpPr>
          <p:cNvPr id="7" name="Shape 3">
            <a:extLst>
              <a:ext uri="{FF2B5EF4-FFF2-40B4-BE49-F238E27FC236}">
                <a16:creationId xmlns:a16="http://schemas.microsoft.com/office/drawing/2014/main" id="{E89CB66C-447F-E4CB-2074-8825F52F629D}"/>
              </a:ext>
            </a:extLst>
          </p:cNvPr>
          <p:cNvSpPr/>
          <p:nvPr/>
        </p:nvSpPr>
        <p:spPr>
          <a:xfrm>
            <a:off x="548640" y="1078992"/>
            <a:ext cx="2011680" cy="0"/>
          </a:xfrm>
          <a:prstGeom prst="line">
            <a:avLst/>
          </a:prstGeom>
          <a:noFill/>
          <a:ln w="12700">
            <a:solidFill>
              <a:srgbClr val="3DDCFF"/>
            </a:solidFill>
            <a:prstDash val="solid"/>
          </a:ln>
        </p:spPr>
        <p:txBody>
          <a:bodyPr/>
          <a:lstStyle/>
          <a:p>
            <a:endParaRPr lang="de-AT"/>
          </a:p>
        </p:txBody>
      </p:sp>
      <p:sp>
        <p:nvSpPr>
          <p:cNvPr id="9" name="Textfeld 8">
            <a:extLst>
              <a:ext uri="{FF2B5EF4-FFF2-40B4-BE49-F238E27FC236}">
                <a16:creationId xmlns:a16="http://schemas.microsoft.com/office/drawing/2014/main" id="{1F0F4F8E-B6C7-C5BB-F541-89B98D4F6FB9}"/>
              </a:ext>
            </a:extLst>
          </p:cNvPr>
          <p:cNvSpPr txBox="1"/>
          <p:nvPr/>
        </p:nvSpPr>
        <p:spPr>
          <a:xfrm>
            <a:off x="548640" y="1307690"/>
            <a:ext cx="10789920" cy="2031325"/>
          </a:xfrm>
          <a:prstGeom prst="rect">
            <a:avLst/>
          </a:prstGeom>
          <a:noFill/>
        </p:spPr>
        <p:txBody>
          <a:bodyPr wrap="square" rtlCol="0">
            <a:spAutoFit/>
          </a:bodyPr>
          <a:lstStyle/>
          <a:p>
            <a:pPr marL="285750" indent="-285750">
              <a:buFont typeface="Arial" panose="020B0604020202020204" pitchFamily="34" charset="0"/>
              <a:buChar char="•"/>
            </a:pPr>
            <a:r>
              <a:rPr lang="de-AT" dirty="0">
                <a:solidFill>
                  <a:schemeClr val="bg1"/>
                </a:solidFill>
              </a:rPr>
              <a:t>Ohne spezielle trainierte KI Modelle schwer umzusetzen</a:t>
            </a:r>
            <a:br>
              <a:rPr lang="de-AT" dirty="0">
                <a:solidFill>
                  <a:schemeClr val="bg1"/>
                </a:solidFill>
              </a:rPr>
            </a:br>
            <a:endParaRPr lang="de-AT" dirty="0">
              <a:solidFill>
                <a:schemeClr val="bg1"/>
              </a:solidFill>
            </a:endParaRPr>
          </a:p>
          <a:p>
            <a:pPr marL="285750" indent="-285750">
              <a:buFont typeface="Arial" panose="020B0604020202020204" pitchFamily="34" charset="0"/>
              <a:buChar char="•"/>
            </a:pPr>
            <a:r>
              <a:rPr lang="de-AT" dirty="0" err="1">
                <a:solidFill>
                  <a:schemeClr val="bg1"/>
                </a:solidFill>
              </a:rPr>
              <a:t>Github</a:t>
            </a:r>
            <a:br>
              <a:rPr lang="de-AT" dirty="0">
                <a:solidFill>
                  <a:schemeClr val="bg1"/>
                </a:solidFill>
              </a:rPr>
            </a:br>
            <a:endParaRPr lang="de-AT" dirty="0">
              <a:solidFill>
                <a:schemeClr val="bg1"/>
              </a:solidFill>
            </a:endParaRPr>
          </a:p>
          <a:p>
            <a:pPr marL="285750" indent="-285750">
              <a:buFont typeface="Arial" panose="020B0604020202020204" pitchFamily="34" charset="0"/>
              <a:buChar char="•"/>
            </a:pPr>
            <a:r>
              <a:rPr lang="de-AT" dirty="0">
                <a:solidFill>
                  <a:schemeClr val="bg1"/>
                </a:solidFill>
              </a:rPr>
              <a:t>Unity</a:t>
            </a:r>
          </a:p>
          <a:p>
            <a:pPr marL="285750" indent="-285750">
              <a:buFont typeface="Arial" panose="020B0604020202020204" pitchFamily="34" charset="0"/>
              <a:buChar char="•"/>
            </a:pPr>
            <a:endParaRPr lang="de-AT" dirty="0">
              <a:solidFill>
                <a:schemeClr val="bg1"/>
              </a:solidFill>
            </a:endParaRPr>
          </a:p>
          <a:p>
            <a:pPr marL="285750" indent="-285750">
              <a:buFont typeface="Arial" panose="020B0604020202020204" pitchFamily="34" charset="0"/>
              <a:buChar char="•"/>
            </a:pPr>
            <a:r>
              <a:rPr lang="de-AT" dirty="0" err="1">
                <a:solidFill>
                  <a:schemeClr val="bg1"/>
                </a:solidFill>
              </a:rPr>
              <a:t>Scaling</a:t>
            </a:r>
            <a:endParaRPr lang="de-AT" dirty="0">
              <a:solidFill>
                <a:schemeClr val="bg1"/>
              </a:solidFill>
            </a:endParaRPr>
          </a:p>
        </p:txBody>
      </p:sp>
    </p:spTree>
    <p:extLst>
      <p:ext uri="{BB962C8B-B14F-4D97-AF65-F5344CB8AC3E}">
        <p14:creationId xmlns:p14="http://schemas.microsoft.com/office/powerpoint/2010/main" val="4019576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4984-B9D8-F930-8831-E578EDEF1FD7}"/>
            </a:ext>
          </a:extLst>
        </p:cNvPr>
        <p:cNvGrpSpPr/>
        <p:nvPr/>
      </p:nvGrpSpPr>
      <p:grpSpPr>
        <a:xfrm>
          <a:off x="0" y="0"/>
          <a:ext cx="0" cy="0"/>
          <a:chOff x="0" y="0"/>
          <a:chExt cx="0" cy="0"/>
        </a:xfrm>
      </p:grpSpPr>
      <p:pic>
        <p:nvPicPr>
          <p:cNvPr id="2" name="Image 0" descr="/mnt/data/air_imgs/hero.jpg">
            <a:extLst>
              <a:ext uri="{FF2B5EF4-FFF2-40B4-BE49-F238E27FC236}">
                <a16:creationId xmlns:a16="http://schemas.microsoft.com/office/drawing/2014/main" id="{E2BD1F0D-B512-7248-370A-D832E44BFDA6}"/>
              </a:ext>
            </a:extLst>
          </p:cNvPr>
          <p:cNvPicPr>
            <a:picLocks noChangeAspect="1"/>
          </p:cNvPicPr>
          <p:nvPr/>
        </p:nvPicPr>
        <p:blipFill>
          <a:blip r:embed="rId3"/>
          <a:srcRect l="1" r="1"/>
          <a:stretch/>
        </p:blipFill>
        <p:spPr>
          <a:xfrm>
            <a:off x="0" y="0"/>
            <a:ext cx="12191695" cy="6858000"/>
          </a:xfrm>
          <a:prstGeom prst="rect">
            <a:avLst/>
          </a:prstGeom>
        </p:spPr>
      </p:pic>
      <p:sp>
        <p:nvSpPr>
          <p:cNvPr id="3" name="Shape 0">
            <a:extLst>
              <a:ext uri="{FF2B5EF4-FFF2-40B4-BE49-F238E27FC236}">
                <a16:creationId xmlns:a16="http://schemas.microsoft.com/office/drawing/2014/main" id="{7C6BBA10-62A3-1EC3-6913-25173A779764}"/>
              </a:ext>
            </a:extLst>
          </p:cNvPr>
          <p:cNvSpPr/>
          <p:nvPr/>
        </p:nvSpPr>
        <p:spPr>
          <a:xfrm>
            <a:off x="0" y="0"/>
            <a:ext cx="12191695" cy="6858000"/>
          </a:xfrm>
          <a:prstGeom prst="rect">
            <a:avLst/>
          </a:prstGeom>
          <a:solidFill>
            <a:srgbClr val="000B16">
              <a:alpha val="92000"/>
            </a:srgbClr>
          </a:solidFill>
          <a:ln w="12700">
            <a:solidFill>
              <a:srgbClr val="000B16">
                <a:alpha val="0"/>
              </a:srgbClr>
            </a:solidFill>
            <a:prstDash val="solid"/>
          </a:ln>
        </p:spPr>
        <p:txBody>
          <a:bodyPr/>
          <a:lstStyle/>
          <a:p>
            <a:endParaRPr lang="de-AT"/>
          </a:p>
        </p:txBody>
      </p:sp>
      <p:sp>
        <p:nvSpPr>
          <p:cNvPr id="5" name="Text 2">
            <a:extLst>
              <a:ext uri="{FF2B5EF4-FFF2-40B4-BE49-F238E27FC236}">
                <a16:creationId xmlns:a16="http://schemas.microsoft.com/office/drawing/2014/main" id="{46DC54FB-6982-4274-AECB-47D500C4E828}"/>
              </a:ext>
            </a:extLst>
          </p:cNvPr>
          <p:cNvSpPr/>
          <p:nvPr/>
        </p:nvSpPr>
        <p:spPr>
          <a:xfrm>
            <a:off x="4861407" y="2619756"/>
            <a:ext cx="2468880" cy="640080"/>
          </a:xfrm>
          <a:prstGeom prst="rect">
            <a:avLst/>
          </a:prstGeom>
          <a:noFill/>
          <a:ln/>
        </p:spPr>
        <p:txBody>
          <a:bodyPr wrap="square" lIns="0" tIns="0" rIns="0" bIns="0" rtlCol="0" anchor="ctr"/>
          <a:lstStyle/>
          <a:p>
            <a:pPr marL="0" indent="0">
              <a:buNone/>
            </a:pPr>
            <a:r>
              <a:rPr lang="en-US" sz="5400" b="1" dirty="0" err="1">
                <a:solidFill>
                  <a:srgbClr val="F4F8FF"/>
                </a:solidFill>
                <a:latin typeface="Aptos Display" pitchFamily="34" charset="0"/>
                <a:ea typeface="Aptos Display" pitchFamily="34" charset="-122"/>
                <a:cs typeface="Aptos Display" pitchFamily="34" charset="-120"/>
              </a:rPr>
              <a:t>Fragen</a:t>
            </a:r>
            <a:r>
              <a:rPr lang="en-US" sz="5400" b="1" dirty="0">
                <a:solidFill>
                  <a:srgbClr val="F4F8FF"/>
                </a:solidFill>
                <a:latin typeface="Aptos Display" pitchFamily="34" charset="0"/>
                <a:ea typeface="Aptos Display" pitchFamily="34" charset="-122"/>
                <a:cs typeface="Aptos Display" pitchFamily="34" charset="-120"/>
              </a:rPr>
              <a:t>?</a:t>
            </a:r>
            <a:endParaRPr lang="en-US" sz="5400" dirty="0"/>
          </a:p>
        </p:txBody>
      </p:sp>
      <p:sp>
        <p:nvSpPr>
          <p:cNvPr id="14" name="Text 11">
            <a:extLst>
              <a:ext uri="{FF2B5EF4-FFF2-40B4-BE49-F238E27FC236}">
                <a16:creationId xmlns:a16="http://schemas.microsoft.com/office/drawing/2014/main" id="{9C69A23A-C56E-355F-0664-82289B7F40A8}"/>
              </a:ext>
            </a:extLst>
          </p:cNvPr>
          <p:cNvSpPr/>
          <p:nvPr/>
        </p:nvSpPr>
        <p:spPr>
          <a:xfrm>
            <a:off x="548640" y="6519672"/>
            <a:ext cx="7589520" cy="164592"/>
          </a:xfrm>
          <a:prstGeom prst="rect">
            <a:avLst/>
          </a:prstGeom>
          <a:noFill/>
          <a:ln/>
        </p:spPr>
        <p:txBody>
          <a:bodyPr wrap="square" lIns="0" tIns="0" rIns="0" bIns="0" rtlCol="0" anchor="ctr"/>
          <a:lstStyle/>
          <a:p>
            <a:pPr marL="0" indent="0">
              <a:buNone/>
            </a:pPr>
            <a:r>
              <a:rPr lang="en-US" sz="770" dirty="0">
                <a:solidFill>
                  <a:srgbClr val="86A3B9"/>
                </a:solidFill>
              </a:rPr>
              <a:t>AiR, Artificial intelligence Runner</a:t>
            </a:r>
            <a:endParaRPr lang="en-US" sz="770" dirty="0"/>
          </a:p>
        </p:txBody>
      </p:sp>
      <p:sp>
        <p:nvSpPr>
          <p:cNvPr id="15" name="Text 12">
            <a:extLst>
              <a:ext uri="{FF2B5EF4-FFF2-40B4-BE49-F238E27FC236}">
                <a16:creationId xmlns:a16="http://schemas.microsoft.com/office/drawing/2014/main" id="{C4FB96AD-1A50-4323-0863-743DBD32CC28}"/>
              </a:ext>
            </a:extLst>
          </p:cNvPr>
          <p:cNvSpPr/>
          <p:nvPr/>
        </p:nvSpPr>
        <p:spPr>
          <a:xfrm>
            <a:off x="11338560" y="6446520"/>
            <a:ext cx="384048" cy="228600"/>
          </a:xfrm>
          <a:prstGeom prst="rect">
            <a:avLst/>
          </a:prstGeom>
          <a:noFill/>
          <a:ln/>
        </p:spPr>
        <p:txBody>
          <a:bodyPr wrap="square" lIns="0" tIns="0" rIns="0" bIns="0" rtlCol="0" anchor="ctr"/>
          <a:lstStyle/>
          <a:p>
            <a:pPr marL="0" indent="0" algn="r">
              <a:buNone/>
            </a:pPr>
            <a:endParaRPr lang="en-US" sz="900" dirty="0"/>
          </a:p>
        </p:txBody>
      </p:sp>
    </p:spTree>
    <p:extLst>
      <p:ext uri="{BB962C8B-B14F-4D97-AF65-F5344CB8AC3E}">
        <p14:creationId xmlns:p14="http://schemas.microsoft.com/office/powerpoint/2010/main" val="236039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2046</Words>
  <Application>Microsoft Macintosh PowerPoint</Application>
  <PresentationFormat>Breitbild</PresentationFormat>
  <Paragraphs>243</Paragraphs>
  <Slides>15</Slides>
  <Notes>15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15</vt:i4>
      </vt:variant>
    </vt:vector>
  </HeadingPairs>
  <TitlesOfParts>
    <vt:vector size="19" baseType="lpstr">
      <vt:lpstr>Aptos Display</vt:lpstr>
      <vt:lpstr>Aptos Mono</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KI basierte Level Generierung im Endless Runner</dc:title>
  <dc:subject>AiR, prozedurale Level Generierung mit KI</dc:subject>
  <dc:creator>OpenAI</dc:creator>
  <cp:lastModifiedBy>Wuehrer Florian - s2410307077</cp:lastModifiedBy>
  <cp:revision>5</cp:revision>
  <dcterms:created xsi:type="dcterms:W3CDTF">2026-05-29T06:27:21Z</dcterms:created>
  <dcterms:modified xsi:type="dcterms:W3CDTF">2026-05-29T11:58:43Z</dcterms:modified>
</cp:coreProperties>
</file>